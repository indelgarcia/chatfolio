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ChatFolio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4ECDC4"/>
                </a:solidFill>
                <a:latin typeface="Calibri"/>
              </a:rPr>
              <a:t>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8C8C8"/>
                </a:solidFill>
                <a:latin typeface="Calibri"/>
              </a:rPr>
              <a:t>Qualitative &amp; Quantitative User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86200"/>
            <a:ext cx="3931920" cy="27432"/>
          </a:xfrm>
          <a:prstGeom prst="rect">
            <a:avLst/>
          </a:prstGeom>
          <a:solidFill>
            <a:srgbClr val="78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788C"/>
                </a:solidFill>
                <a:latin typeface="Calibri"/>
              </a:rPr>
              <a:t>Chris  ·  Indel  ·  Nate  ·  Matt     |   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Study Overview &amp; Participant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CDC4"/>
                </a:solidFill>
                <a:latin typeface="Calibri"/>
              </a:rPr>
              <a:t>PART 1 — QUALITATIVE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3949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CDC4"/>
                </a:solidFill>
                <a:latin typeface="Calibri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Task: complete full ChatFolio flow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   greeting → 4 questions → generate portfolio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Method: think-aloud, moderated observation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Observer noted friction points, surprises,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   and positive reactions without guiding users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Synthesis: affinity diagramming → 6 themes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914400"/>
            <a:ext cx="55778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CDC4"/>
                </a:solidFill>
                <a:latin typeface="Calibri"/>
              </a:rPr>
              <a:t>PARTICIPANTS  (n = 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All college students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Majors: CS, Finance, Economics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Mixed investing experience: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   Some had zero prior knowledge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   Some were familiar with stocks / markets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8C8C8"/>
                </a:solidFill>
                <a:latin typeface="Calibri"/>
              </a:rPr>
              <a:t>   Some were already actively investing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Affinity Diagram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CDC4"/>
                </a:solidFill>
                <a:latin typeface="Calibri"/>
              </a:rPr>
              <a:t>PART 1 — QUALITATIVE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68680"/>
            <a:ext cx="35661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356616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3327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Onboarding &amp;
Initial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79192"/>
            <a:ext cx="146304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6 / 7 participants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868680"/>
            <a:ext cx="35661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868680"/>
            <a:ext cx="356616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03327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Risk Tolerance
Confusion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679192"/>
            <a:ext cx="1463040" cy="3840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651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3 / 7 participants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868680"/>
            <a:ext cx="35661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868680"/>
            <a:ext cx="3566160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03327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Chat &amp;
Conversation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679192"/>
            <a:ext cx="1463040" cy="3840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651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5 / 7 participants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74720"/>
            <a:ext cx="35661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474720"/>
            <a:ext cx="356616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3931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Portfolio Output &amp;
Comprehension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85232"/>
            <a:ext cx="14630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5 / 7 participants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474720"/>
            <a:ext cx="35661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20" y="3474720"/>
            <a:ext cx="35661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363931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UX &amp;
Visual Polish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5285232"/>
            <a:ext cx="146304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5257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4 / 7 participants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3474720"/>
            <a:ext cx="35661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9560" y="3474720"/>
            <a:ext cx="356616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363931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What Worked Well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5285232"/>
            <a:ext cx="146304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257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6 / 7 participants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Findings by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CDC4"/>
                </a:solidFill>
                <a:latin typeface="Calibri"/>
              </a:rPr>
              <a:t>PART 1 — QUALITATIVE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76809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7223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8C8C8"/>
                </a:solidFill>
                <a:latin typeface="Calibri"/>
              </a:rPr>
              <a:t>  →  Onboarding: Initial prompt implied only "retirement" or "house"; users felt their goals were being put in a box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8C8C8"/>
                </a:solidFill>
                <a:latin typeface="Calibri"/>
              </a:rPr>
              <a:t>  →  Risk Tolerance: Beginners don't understand what "risk" means in investing; "35% confident" phrasing was confusing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8C8C8"/>
                </a:solidFill>
                <a:latin typeface="Calibri"/>
              </a:rPr>
              <a:t>  →  Chat Flow: Users dumped all info in one message, bypassing the conversational step-by-step design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8C8C8"/>
                </a:solidFill>
                <a:latin typeface="Calibri"/>
              </a:rPr>
              <a:t>  →  Portfolio Output: ETF tickers (VTI, VXUS, BND) and "index fund" were meaningless to beginners — literacy gap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8C8C8"/>
                </a:solidFill>
                <a:latin typeface="Calibri"/>
              </a:rPr>
              <a:t>  →  UX: No visual indicator when a follow-up message triggers portfolio regeneration; no loading state shown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914400"/>
            <a:ext cx="35661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WHAT WORKED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4630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C55E"/>
                </a:solidFill>
                <a:latin typeface="Calibri"/>
              </a:rPr>
              <a:t>  ✓  Real-time sidebar profile updates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C55E"/>
                </a:solidFill>
                <a:latin typeface="Calibri"/>
              </a:rPr>
              <a:t>  ✓  Loading screen / onboarding panel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C55E"/>
                </a:solidFill>
                <a:latin typeface="Calibri"/>
              </a:rPr>
              <a:t>  ✓  Growth projection chart (clear &amp; intuitive)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C55E"/>
                </a:solidFill>
                <a:latin typeface="Calibri"/>
              </a:rPr>
              <a:t>  ✓  Conversational format strongly preferred over traditional 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UX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CDC4"/>
                </a:solidFill>
                <a:latin typeface="Calibri"/>
              </a:rPr>
              <a:t>PART 1 — QUALITATIVE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Gather life context before investment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  <a:latin typeface="Calibri"/>
              </a:rPr>
              <a:t>Collect age, income, debt, and life stage before asking about specific goals — users need the system to understand them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41148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Close the financial literacy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  <a:latin typeface="Calibri"/>
              </a:rPr>
              <a:t>Define ETFs, indexes, and risk tolerance inline. Never assume baseline financial knowledge for a beginner-focused 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41148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794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49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Fix the follow-up feedback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06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  <a:latin typeface="Calibri"/>
              </a:rPr>
              <a:t>Users need a clear signal that their follow-up message was received and that the portfolio is regenerating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66360"/>
            <a:ext cx="41148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166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20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Lean into the conversational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5778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  <a:latin typeface="Calibri"/>
              </a:rPr>
              <a:t>The conversational design is the core differentiator — invest in making it feel like a real advisor, not a form in disguise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Critical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CDC4"/>
                </a:solidFill>
                <a:latin typeface="Calibri"/>
              </a:rPr>
              <a:t>PART 2 — QUANTITATIVE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CDC4"/>
                </a:solidFill>
                <a:latin typeface="Calibri"/>
              </a:rPr>
              <a:t>Which prompt?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  <a:latin typeface="Calibri"/>
              </a:rPr>
              <a:t>The conversational profile extraction system prompt in chat_engine.py. This single prompt handles every user message from greeting to portfolio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CDC4"/>
                </a:solidFill>
                <a:latin typeface="Calibri"/>
              </a:rPr>
              <a:t>Why critical?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8892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8C8C8"/>
                </a:solidFill>
                <a:latin typeface="Calibri"/>
              </a:rPr>
              <a:t>  •  Routes 100% of user messages at every stage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C8C8"/>
                </a:solidFill>
                <a:latin typeface="Calibri"/>
              </a:rPr>
              <a:t>  •  Must handle 5 profile fields and diverse edge cases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C8C8"/>
                </a:solidFill>
                <a:latin typeface="Calibri"/>
              </a:rPr>
              <a:t>  •  Returns structured JSON — format errors break the entire app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C8C8"/>
                </a:solidFill>
                <a:latin typeface="Calibri"/>
              </a:rPr>
              <a:t>  •  Failures cascade directly to bad portfolio recommendations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914400"/>
            <a:ext cx="5394960" cy="5394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9875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8C"/>
                </a:solidFill>
                <a:latin typeface="Calibri"/>
              </a:rPr>
              <a:t>System prompt excerpt (V2)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41732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  <a:latin typeface="Calibri"/>
              </a:rPr>
              <a:t>You are ChatFolio, a friendly investment advisor
that helps beginners build a starter portfolio
through conversation.
Guidelines:
1. Ask ONE question at a time.
2. Paraphrase vague answers and confirm
   before saving a field.
3. Collect in order: goal → timeline → budget
   → risk_tolerance → additional_info
4. Handle edge cases: variable budgets,
   numeric risk scales, short timelines...
Respond ONLY in JSON:
{
  "message": "...",
  "profile_updates": { ... },
  "ready_for_portfolio": false,
  "profile_changed": false
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CDC4"/>
                </a:solidFill>
                <a:latin typeface="Calibri"/>
              </a:rPr>
              <a:t>PART 2 — QUANTITATIVE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ECDC4"/>
                </a:solidFill>
                <a:latin typeface="Calibri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8C8"/>
                </a:solidFill>
                <a:latin typeface="Calibri"/>
              </a:rPr>
              <a:t>total samples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914400"/>
            <a:ext cx="109728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96012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ECDC4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361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8C8"/>
                </a:solidFill>
                <a:latin typeface="Calibri"/>
              </a:rPr>
              <a:t>categories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914400"/>
            <a:ext cx="109728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96012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ECDC4"/>
                </a:solidFill>
                <a:latin typeface="Calibri"/>
              </a:rPr>
              <a:t>~60%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5361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8C8"/>
                </a:solidFill>
                <a:latin typeface="Calibri"/>
              </a:rPr>
              <a:t>typical inputs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914400"/>
            <a:ext cx="109728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96012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ECDC4"/>
                </a:solidFill>
                <a:latin typeface="Calibri"/>
              </a:rPr>
              <a:t>~20%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5361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8C8"/>
                </a:solidFill>
                <a:latin typeface="Calibri"/>
              </a:rPr>
              <a:t>edge cases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914400"/>
            <a:ext cx="109728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96012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ECDC4"/>
                </a:solidFill>
                <a:latin typeface="Calibri"/>
              </a:rPr>
              <a:t>~20%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5361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8C8"/>
                </a:solidFill>
                <a:latin typeface="Calibri"/>
              </a:rPr>
              <a:t>adversarial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057400"/>
            <a:ext cx="5029200" cy="46773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06640" y="20574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Category breakdown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551176"/>
            <a:ext cx="201168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24871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8"/>
                </a:solidFill>
                <a:latin typeface="Calibri"/>
              </a:rPr>
              <a:t>Goal  (7 samples)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3081528"/>
            <a:ext cx="201168" cy="2011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0175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8"/>
                </a:solidFill>
                <a:latin typeface="Calibri"/>
              </a:rPr>
              <a:t>Timeline  (7 samples)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3611880"/>
            <a:ext cx="201168" cy="20116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354787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8"/>
                </a:solidFill>
                <a:latin typeface="Calibri"/>
              </a:rPr>
              <a:t>Budget  (7 samples)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4142232"/>
            <a:ext cx="20116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407822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8"/>
                </a:solidFill>
                <a:latin typeface="Calibri"/>
              </a:rPr>
              <a:t>Risk  (6 samples)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4672584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79" y="460857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8"/>
                </a:solidFill>
                <a:latin typeface="Calibri"/>
              </a:rPr>
              <a:t>Additional  (7 samples)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5202936"/>
            <a:ext cx="201168" cy="2011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79" y="513892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8"/>
                </a:solidFill>
                <a:latin typeface="Calibri"/>
              </a:rPr>
              <a:t>Post-Gen  (7 samples)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5733288"/>
            <a:ext cx="201168" cy="2011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56692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8"/>
                </a:solidFill>
                <a:latin typeface="Calibri"/>
              </a:rPr>
              <a:t>Off-Topic  (8 samples)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CDC4"/>
                </a:solidFill>
                <a:latin typeface="Calibri"/>
              </a:rPr>
              <a:t>PART 2 — QUANTITATIVE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LLM-as-Judge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8"/>
                </a:solidFill>
                <a:latin typeface="Calibri"/>
              </a:rPr>
              <a:t>GPT-4o-mini rates each response against ground truth on a 1–5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7627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8C8C8"/>
                </a:solidFill>
                <a:latin typeface="Calibri"/>
              </a:rPr>
              <a:t>  •  Same rubric applied consistently across all 49 samples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C8C8"/>
                </a:solidFill>
                <a:latin typeface="Calibri"/>
              </a:rPr>
              <a:t>  •  Secondary metric — used for consistency check and scale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C8C8"/>
                </a:solidFill>
                <a:latin typeface="Calibri"/>
              </a:rPr>
              <a:t>  •  Catches systematic failures across many inputs quickly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14400"/>
            <a:ext cx="548640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0058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Human 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8"/>
                </a:solidFill>
                <a:latin typeface="Calibri"/>
              </a:rPr>
              <a:t>Manual 1–5 rating by team member against ground 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7627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8C8C8"/>
                </a:solidFill>
                <a:latin typeface="Calibri"/>
              </a:rPr>
              <a:t>  •  Primary metric for pass / fail determination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C8C8"/>
                </a:solidFill>
                <a:latin typeface="Calibri"/>
              </a:rPr>
              <a:t>  •  Pass threshold: ≥ 4 out of 5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8C8C8"/>
                </a:solidFill>
                <a:latin typeface="Calibri"/>
              </a:rPr>
              <a:t>  •  Catches LLM judge blind spots and context-dependent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708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Rating Rubric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00600"/>
            <a:ext cx="224028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48646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5 — Excellent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2578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8C8"/>
                </a:solidFill>
                <a:latin typeface="Calibri"/>
              </a:rPr>
              <a:t>Fully matches ground truth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4800600"/>
            <a:ext cx="224028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48646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4CC16"/>
                </a:solidFill>
                <a:latin typeface="Calibri"/>
              </a:rPr>
              <a:t>4 — Good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52578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8C8"/>
                </a:solidFill>
                <a:latin typeface="Calibri"/>
              </a:rPr>
              <a:t>Mostly correct, minor gaps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800600"/>
            <a:ext cx="224028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8646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54F"/>
                </a:solidFill>
                <a:latin typeface="Calibri"/>
              </a:rPr>
              <a:t>3 — Adequate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52578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8C8"/>
                </a:solidFill>
                <a:latin typeface="Calibri"/>
              </a:rPr>
              <a:t>Partially correct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4800600"/>
            <a:ext cx="224028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48646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  <a:latin typeface="Calibri"/>
              </a:rPr>
              <a:t>2 — Poor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52578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8C8"/>
                </a:solidFill>
                <a:latin typeface="Calibri"/>
              </a:rPr>
              <a:t>Mostly fails expectations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4800600"/>
            <a:ext cx="224028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02368" y="48646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1 — Unsat.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52578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8C8"/>
                </a:solidFill>
                <a:latin typeface="Calibri"/>
              </a:rPr>
              <a:t>Irrelevant or contradicts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Baseline V1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CDC4"/>
                </a:solidFill>
                <a:latin typeface="Calibri"/>
              </a:rPr>
              <a:t>PART 2 — QUANTITATIVE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6517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  <a:latin typeface="Calibri"/>
              </a:rPr>
              <a:t>3.61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8C"/>
                </a:solidFill>
                <a:latin typeface="Calibri"/>
              </a:rPr>
              <a:t>LLM Avg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914400"/>
            <a:ext cx="26517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8688" y="93268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  <a:latin typeface="Calibri"/>
              </a:rPr>
              <a:t>3.96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14813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8C"/>
                </a:solidFill>
                <a:latin typeface="Calibri"/>
              </a:rPr>
              <a:t>Human Avg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1616" y="914400"/>
            <a:ext cx="26517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71616" y="93268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  <a:latin typeface="Calibri"/>
              </a:rPr>
              <a:t>67.3%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1616" y="14813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8C"/>
                </a:solidFill>
                <a:latin typeface="Calibri"/>
              </a:rPr>
              <a:t>LLM Pass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24544" y="914400"/>
            <a:ext cx="26517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4544" y="93268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  <a:latin typeface="Calibri"/>
              </a:rPr>
              <a:t>71.4%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14813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8C"/>
                </a:solidFill>
                <a:latin typeface="Calibri"/>
              </a:rPr>
              <a:t>Human Pass Rate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7772400" cy="402499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21040" y="2011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Root Causes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688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8C8C8"/>
                </a:solidFill>
                <a:latin typeface="Calibri"/>
              </a:rPr>
              <a:t>  •  Variable budgets accepted as-is instead of asking for a steady amount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8C8C8"/>
                </a:solidFill>
                <a:latin typeface="Calibri"/>
              </a:rPr>
              <a:t>  •  Vague timelines (ranges) saved without confirmation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8C8C8"/>
                </a:solidFill>
                <a:latin typeface="Calibri"/>
              </a:rPr>
              <a:t>  •  "YOLO crypto" treated as aggressive instead of redirecting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8C8C8"/>
                </a:solidFill>
                <a:latin typeface="Calibri"/>
              </a:rPr>
              <a:t>  •  "$0, I'm broke" confirmed instead of suggesting $25–50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8C8C8"/>
                </a:solidFill>
                <a:latin typeface="Calibri"/>
              </a:rPr>
              <a:t>  •  Additional Info stage misclassified as off-topic in many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Prompt Refinements: V1 →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CDC4"/>
                </a:solidFill>
                <a:latin typeface="Calibri"/>
              </a:rPr>
              <a:t>PART 3 — PERFORMANCE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84048" cy="38404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9144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One-field confirmation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07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C8"/>
                </a:solidFill>
                <a:latin typeface="Calibri"/>
              </a:rPr>
              <a:t>Explicit rule: paraphrase understanding and confirm ONE field before saving. Added required format: "It sounds like X — does that sound right?"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384048" cy="38404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Edge case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048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C8"/>
                </a:solidFill>
                <a:latin typeface="Calibri"/>
              </a:rPr>
              <a:t>Variable budget → ask for steady amount. Numeric risk scale → map to two nearest categories and let user choose. Short timeline → volatility warning. $0 → empathize + suggest $25–50.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089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Post-generation behavioral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02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C8"/>
                </a:solidFill>
                <a:latin typeface="Calibri"/>
              </a:rPr>
              <a:t>Profile change requests update fields and set profile_changed=true. Informational questions (e.g. "what is VTI?") answer only — never touch profile.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51960"/>
            <a:ext cx="384048" cy="38404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519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Proactive contextual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94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C8"/>
                </a:solidFill>
                <a:latin typeface="Calibri"/>
              </a:rPr>
              <a:t>After 4 required fields, ask about existing savings, debt, and life changes instead of generic "anything else?" to surface portfolio-relevant context.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49240"/>
            <a:ext cx="384048" cy="38404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3492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Required plain-language risk 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967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C8"/>
                </a:solidFill>
                <a:latin typeface="Calibri"/>
              </a:rPr>
              <a:t>Model must describe all three risk levels before asking. Prohibited: numeric confidence outputs like "35% confident."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Before vs. After: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CDC4"/>
                </a:solidFill>
                <a:latin typeface="Calibri"/>
              </a:rPr>
              <a:t>PART 3 — PERFORMANCE COMPARISON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138160" cy="37555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200" y="98755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ECDC4"/>
                </a:solidFill>
                <a:latin typeface="Calibr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98755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ECDC4"/>
                </a:solidFill>
                <a:latin typeface="Calibri"/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98755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ECDC4"/>
                </a:solidFill>
                <a:latin typeface="Calibri"/>
              </a:rPr>
              <a:t>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98755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ECDC4"/>
                </a:solidFill>
                <a:latin typeface="Calibri"/>
              </a:rPr>
              <a:t>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335024"/>
            <a:ext cx="3429000" cy="27432"/>
          </a:xfrm>
          <a:prstGeom prst="rect">
            <a:avLst/>
          </a:prstGeom>
          <a:solidFill>
            <a:srgbClr val="78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58200" y="1371600"/>
            <a:ext cx="3429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173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C8"/>
                </a:solidFill>
                <a:latin typeface="Calibri"/>
              </a:rPr>
              <a:t>LLM Avg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4173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  <a:latin typeface="Calibri"/>
              </a:rPr>
              <a:t>3.61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14173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ECDC4"/>
                </a:solidFill>
                <a:latin typeface="Calibri"/>
              </a:rPr>
              <a:t>4.80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14173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  <a:latin typeface="Calibri"/>
              </a:rPr>
              <a:t>+1.19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965960"/>
            <a:ext cx="3429000" cy="548640"/>
          </a:xfrm>
          <a:prstGeom prst="rect">
            <a:avLst/>
          </a:prstGeom>
          <a:solidFill>
            <a:srgbClr val="14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01168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C8"/>
                </a:solidFill>
                <a:latin typeface="Calibri"/>
              </a:rPr>
              <a:t>Human Avg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01168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  <a:latin typeface="Calibri"/>
              </a:rPr>
              <a:t>3.96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201168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ECDC4"/>
                </a:solidFill>
                <a:latin typeface="Calibri"/>
              </a:rPr>
              <a:t>4.76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201168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  <a:latin typeface="Calibri"/>
              </a:rPr>
              <a:t>+0.80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560320"/>
            <a:ext cx="3429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6060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C8"/>
                </a:solidFill>
                <a:latin typeface="Calibri"/>
              </a:rPr>
              <a:t>LLM Pass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060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  <a:latin typeface="Calibri"/>
              </a:rPr>
              <a:t>67.3%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26060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ECDC4"/>
                </a:solidFill>
                <a:latin typeface="Calibri"/>
              </a:rPr>
              <a:t>91.8%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26060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  <a:latin typeface="Calibri"/>
              </a:rPr>
              <a:t>+24.5 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3154680"/>
            <a:ext cx="3429000" cy="548640"/>
          </a:xfrm>
          <a:prstGeom prst="rect">
            <a:avLst/>
          </a:prstGeom>
          <a:solidFill>
            <a:srgbClr val="14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2004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C8"/>
                </a:solidFill>
                <a:latin typeface="Calibri"/>
              </a:rPr>
              <a:t>Human Pass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2004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  <a:latin typeface="Calibri"/>
              </a:rPr>
              <a:t>71.4%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32004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ECDC4"/>
                </a:solidFill>
                <a:latin typeface="Calibri"/>
              </a:rPr>
              <a:t>95.9%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32004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  <a:latin typeface="Calibri"/>
              </a:rPr>
              <a:t>+24.5 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3886200"/>
            <a:ext cx="3429000" cy="1417320"/>
          </a:xfrm>
          <a:prstGeom prst="rect">
            <a:avLst/>
          </a:prstGeom>
          <a:solidFill>
            <a:srgbClr val="0A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9319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ECDC4"/>
                </a:solidFill>
                <a:latin typeface="Calibri"/>
              </a:rPr>
              <a:t>+24.5 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52628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C8C8"/>
                </a:solidFill>
                <a:latin typeface="Calibri"/>
              </a:rPr>
              <a:t>human pass rate improvement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8920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71.4%  →  95.9%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  <a:latin typeface="Calibri"/>
              </a:rPr>
              <a:t>Qualitative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  <a:latin typeface="Calibri"/>
              </a:rPr>
              <a:t>5 UX friction points identified across a 7-participant think-aloud study. Top issues: financial literacy gap, overly narrow initial prompt framing, and missing regeneration feedback after follow-up messages.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80360"/>
            <a:ext cx="1143000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880360"/>
            <a:ext cx="109728" cy="16002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ECDC4"/>
                </a:solidFill>
                <a:latin typeface="Calibri"/>
              </a:rPr>
              <a:t>Quantitative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  <a:latin typeface="Calibri"/>
              </a:rPr>
              <a:t>Prompt V2 achieves a 95.9% human pass rate (up from 71.4% baseline, +24.5 pp). LLM-as-judge and human ratings aligned closely (avg delta &lt; 0.1 across all samples).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17720"/>
            <a:ext cx="1143000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617720"/>
            <a:ext cx="109728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754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  <a:latin typeface="Calibri"/>
              </a:rPr>
              <a:t>Combined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663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  <a:latin typeface="Calibri"/>
              </a:rPr>
              <a:t>Qualitative user observations directly informed the quantitative test cases, enabling evidence-driven prompt iteration from observed friction to measurable reliability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