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we're presenting ChatFolio, our HAI term project. We set out to solve a specific problem: why do so many people who want to invest never actually start? We'll walk through our design journey, what we built, how we evaluated it, and what we learned.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real and measurable. More than half of American adults have no stock market exposure, and a big driver is a lack of understanding — not a lack of desire. Existing tools like Robinhood and Fidelity are built for people who already know what they want. ChatFolio is built for people who don't.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ChatFolio's core idea: replace the intimidating brokerage form with a conversation. Marcus represents our target user — someone who wants to invest but keeps hitting a wall of jargon and complexity. Every design decision was filtered through the question: would Marcus understand this? Would Marcus trust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pipeline. Every user message flows through GPT-4o-mini in JSON mode — the model returns both a conversational reply and structured profile updates in one call. The generate button is deliberate friction: the user confirms their profile before we produce a recommendation. Below, you can see how each part of the system maps to the four HAI evaluation criteria — this wasn't an afterthought, it was the design constraint.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writing a single line of Python, we built a static mockup in Lovable. This let the four of us align on the visual concept and interaction model in hours, not days. The dual-panel layout — chat on the left, live profile on the right — came directly from this mockup. The Lovable version even had Accept/Adjust/Explain buttons on the portfolio, which set the aspiration for what the real system should eventually 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v0.2 we replaced the static mockup with a real Streamlit app backed by GPT-4o-mini. Users could now have an actual conversation and see their profile fill in live. v0.3 added everything that makes the output meaningful: the rationale that explains WHY the portfolio was built this way, the growth projections that make the numbers concrete, and the action plan that tells the user what to actually do next. The edit loop was also added here — users could keep chatting after generation.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running our think-aloud study, we had a concrete list of things to fix. v0.4 was a prompt overhaul: we tightened the confirmation loop, handled edge cases we'd seen break in testing, and required the AI to explain risk in plain English every time. v0.5 was the UX pass: the post-generation layout now uses two independent scroll containers so users can review the portfolio while keeping the conversation in view. The spinner and success toast give clear feedback that a follow-up message triggered a change.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a think-aloud study with 7 participants who used ChatFolio while narrating their thoughts aloud. We observed — we didn't guide or help. After the sessions, we used affinity diagramming to cluster observations into 6 themes. Onboarding and What Worked Well both hit 6 of 7 participants — meaning nearly everyone had something to say about the first impression, and nearly everyone found something they genuinely liked.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shows why HAI evaluation matters. Each pain point on the left maps directly to a concrete change on the right. The financial literacy gap was the biggest surprise — we assumed users would google an ETF ticker. They didn't. They either guessed or disengaged. The regeneration feedback issue was simpler but just as impactful: users thought nothing happened when they sent a follow-up message.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quantitative eval used a 49-sample benchmark dataset across 7 categories. Each response was rated 1-5 by both an LLM judge and a human reviewer — pass threshold was 4 or above. V1 passed 71.4% of human-rated cases. V2 passed 95.9% — a 24.5 percentage point jump. Crucially, the LLM-judge and human ratings stayed within 0.1 of each other on average, which gives us confidence the automated metric is actually measuring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demo video now — it runs approximately 2 to 3 minutes. Watch for the live sidebar updates, the generate button moment, and the follow-up adjustment at the end. After the video, we'll cover lessons learned.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we'd tell our past selves. The financial literacy gap was the most actionable insight — it's fixable with copy, not architecture. The mixed-initiative finding is broader: users want to be the driver, not the passenger. And the lesson about the edit loop applies to any generative AI tool — the output is a starting point for dialogue, not a finished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for questions. The walkthrough video was submitted as a separate file. The full source code is in the repo — run 'streamlit run app.py' to try it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32720" cy="1280160"/>
          </a:xfrm>
          <a:prstGeom prst="rect">
            <a:avLst/>
          </a:prstGeom>
          <a:noFill/>
        </p:spPr>
        <p:txBody>
          <a:bodyPr wrap="square">
            <a:spAutoFit/>
          </a:bodyPr>
          <a:lstStyle/>
          <a:p>
            <a:pPr algn="ctr"/>
            <a:r>
              <a:rPr sz="6400" b="1" i="0">
                <a:solidFill>
                  <a:srgbClr val="FFFFFF"/>
                </a:solidFill>
                <a:latin typeface="Calibri"/>
              </a:rPr>
              <a:t>ChatFolio</a:t>
            </a:r>
          </a:p>
        </p:txBody>
      </p:sp>
      <p:sp>
        <p:nvSpPr>
          <p:cNvPr id="4" name="TextBox 3"/>
          <p:cNvSpPr txBox="1"/>
          <p:nvPr/>
        </p:nvSpPr>
        <p:spPr>
          <a:xfrm>
            <a:off x="914400" y="2377440"/>
            <a:ext cx="10332720" cy="731520"/>
          </a:xfrm>
          <a:prstGeom prst="rect">
            <a:avLst/>
          </a:prstGeom>
          <a:noFill/>
        </p:spPr>
        <p:txBody>
          <a:bodyPr wrap="square">
            <a:spAutoFit/>
          </a:bodyPr>
          <a:lstStyle/>
          <a:p>
            <a:pPr algn="ctr"/>
            <a:r>
              <a:rPr sz="3200" b="0" i="0">
                <a:solidFill>
                  <a:srgbClr val="4ECDC4"/>
                </a:solidFill>
                <a:latin typeface="Calibri"/>
              </a:rPr>
              <a:t>Final Presentation</a:t>
            </a:r>
          </a:p>
        </p:txBody>
      </p:sp>
      <p:sp>
        <p:nvSpPr>
          <p:cNvPr id="5" name="TextBox 4"/>
          <p:cNvSpPr txBox="1"/>
          <p:nvPr/>
        </p:nvSpPr>
        <p:spPr>
          <a:xfrm>
            <a:off x="914400" y="3108960"/>
            <a:ext cx="10332720" cy="548640"/>
          </a:xfrm>
          <a:prstGeom prst="rect">
            <a:avLst/>
          </a:prstGeom>
          <a:noFill/>
        </p:spPr>
        <p:txBody>
          <a:bodyPr wrap="square">
            <a:spAutoFit/>
          </a:bodyPr>
          <a:lstStyle/>
          <a:p>
            <a:pPr algn="ctr"/>
            <a:r>
              <a:rPr sz="1800" b="0" i="0">
                <a:solidFill>
                  <a:srgbClr val="C8C8C8"/>
                </a:solidFill>
                <a:latin typeface="Calibri"/>
              </a:rPr>
              <a:t>AI-Powered Conversational Investment Advisor</a:t>
            </a:r>
          </a:p>
        </p:txBody>
      </p:sp>
      <p:sp>
        <p:nvSpPr>
          <p:cNvPr id="6" name="Rectangle 5"/>
          <p:cNvSpPr/>
          <p:nvPr/>
        </p:nvSpPr>
        <p:spPr>
          <a:xfrm>
            <a:off x="4114800" y="3840480"/>
            <a:ext cx="3931920" cy="27432"/>
          </a:xfrm>
          <a:prstGeom prst="rect">
            <a:avLst/>
          </a:prstGeom>
          <a:solidFill>
            <a:srgbClr val="78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31920"/>
            <a:ext cx="10332720" cy="457200"/>
          </a:xfrm>
          <a:prstGeom prst="rect">
            <a:avLst/>
          </a:prstGeom>
          <a:noFill/>
        </p:spPr>
        <p:txBody>
          <a:bodyPr wrap="square">
            <a:spAutoFit/>
          </a:bodyPr>
          <a:lstStyle/>
          <a:p>
            <a:pPr algn="ctr"/>
            <a:r>
              <a:rPr sz="1400" b="0" i="0">
                <a:solidFill>
                  <a:srgbClr val="78788C"/>
                </a:solidFill>
                <a:latin typeface="Calibri"/>
              </a:rPr>
              <a:t>Chris  ·  Indel  ·  Nate  ·  Matt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The Problem</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PROJECT OVERVIEW</a:t>
            </a:r>
          </a:p>
        </p:txBody>
      </p:sp>
      <p:sp>
        <p:nvSpPr>
          <p:cNvPr id="5" name="Rectangle 4"/>
          <p:cNvSpPr/>
          <p:nvPr/>
        </p:nvSpPr>
        <p:spPr>
          <a:xfrm>
            <a:off x="365760" y="1005840"/>
            <a:ext cx="438912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109728" cy="16459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97280"/>
            <a:ext cx="3931920" cy="777240"/>
          </a:xfrm>
          <a:prstGeom prst="rect">
            <a:avLst/>
          </a:prstGeom>
          <a:noFill/>
        </p:spPr>
        <p:txBody>
          <a:bodyPr wrap="square">
            <a:spAutoFit/>
          </a:bodyPr>
          <a:lstStyle/>
          <a:p>
            <a:pPr algn="l"/>
            <a:r>
              <a:rPr sz="4800" b="1" i="0">
                <a:solidFill>
                  <a:srgbClr val="FF6B6B"/>
                </a:solidFill>
                <a:latin typeface="Calibri"/>
              </a:rPr>
              <a:t>57%</a:t>
            </a:r>
          </a:p>
        </p:txBody>
      </p:sp>
      <p:sp>
        <p:nvSpPr>
          <p:cNvPr id="8" name="TextBox 7"/>
          <p:cNvSpPr txBox="1"/>
          <p:nvPr/>
        </p:nvSpPr>
        <p:spPr>
          <a:xfrm>
            <a:off x="640080" y="1874520"/>
            <a:ext cx="3931920" cy="685800"/>
          </a:xfrm>
          <a:prstGeom prst="rect">
            <a:avLst/>
          </a:prstGeom>
          <a:noFill/>
        </p:spPr>
        <p:txBody>
          <a:bodyPr wrap="square">
            <a:spAutoFit/>
          </a:bodyPr>
          <a:lstStyle/>
          <a:p>
            <a:pPr algn="l"/>
            <a:r>
              <a:rPr sz="1300" b="0" i="0">
                <a:solidFill>
                  <a:srgbClr val="C8C8C8"/>
                </a:solidFill>
                <a:latin typeface="Calibri"/>
              </a:rPr>
              <a:t>of US adults don't personally own stocks</a:t>
            </a:r>
          </a:p>
        </p:txBody>
      </p:sp>
      <p:sp>
        <p:nvSpPr>
          <p:cNvPr id="9" name="Rectangle 8"/>
          <p:cNvSpPr/>
          <p:nvPr/>
        </p:nvSpPr>
        <p:spPr>
          <a:xfrm>
            <a:off x="365760" y="2926080"/>
            <a:ext cx="438912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926080"/>
            <a:ext cx="109728" cy="16459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017520"/>
            <a:ext cx="3931920" cy="777240"/>
          </a:xfrm>
          <a:prstGeom prst="rect">
            <a:avLst/>
          </a:prstGeom>
          <a:noFill/>
        </p:spPr>
        <p:txBody>
          <a:bodyPr wrap="square">
            <a:spAutoFit/>
          </a:bodyPr>
          <a:lstStyle/>
          <a:p>
            <a:pPr algn="l"/>
            <a:r>
              <a:rPr sz="4800" b="1" i="0">
                <a:solidFill>
                  <a:srgbClr val="FF6B6B"/>
                </a:solidFill>
                <a:latin typeface="Calibri"/>
              </a:rPr>
              <a:t>38%</a:t>
            </a:r>
          </a:p>
        </p:txBody>
      </p:sp>
      <p:sp>
        <p:nvSpPr>
          <p:cNvPr id="12" name="TextBox 11"/>
          <p:cNvSpPr txBox="1"/>
          <p:nvPr/>
        </p:nvSpPr>
        <p:spPr>
          <a:xfrm>
            <a:off x="640080" y="3794760"/>
            <a:ext cx="3931920" cy="685800"/>
          </a:xfrm>
          <a:prstGeom prst="rect">
            <a:avLst/>
          </a:prstGeom>
          <a:noFill/>
        </p:spPr>
        <p:txBody>
          <a:bodyPr wrap="square">
            <a:spAutoFit/>
          </a:bodyPr>
          <a:lstStyle/>
          <a:p>
            <a:pPr algn="l"/>
            <a:r>
              <a:rPr sz="1300" b="0" i="0">
                <a:solidFill>
                  <a:srgbClr val="C8C8C8"/>
                </a:solidFill>
                <a:latin typeface="Calibri"/>
              </a:rPr>
              <a:t>of non-owners say they don't understand the market</a:t>
            </a:r>
          </a:p>
        </p:txBody>
      </p:sp>
      <p:sp>
        <p:nvSpPr>
          <p:cNvPr id="13" name="TextBox 12"/>
          <p:cNvSpPr txBox="1"/>
          <p:nvPr/>
        </p:nvSpPr>
        <p:spPr>
          <a:xfrm>
            <a:off x="365760" y="4983480"/>
            <a:ext cx="4572000" cy="320040"/>
          </a:xfrm>
          <a:prstGeom prst="rect">
            <a:avLst/>
          </a:prstGeom>
          <a:noFill/>
        </p:spPr>
        <p:txBody>
          <a:bodyPr wrap="square">
            <a:spAutoFit/>
          </a:bodyPr>
          <a:lstStyle/>
          <a:p>
            <a:pPr algn="l"/>
            <a:r>
              <a:rPr sz="900" b="0" i="1">
                <a:solidFill>
                  <a:srgbClr val="78788C"/>
                </a:solidFill>
                <a:latin typeface="Calibri"/>
              </a:rPr>
              <a:t>Source: Philadelphia Fed, Consumer Finance Brief</a:t>
            </a:r>
          </a:p>
        </p:txBody>
      </p:sp>
      <p:sp>
        <p:nvSpPr>
          <p:cNvPr id="14" name="Rectangle 13"/>
          <p:cNvSpPr/>
          <p:nvPr/>
        </p:nvSpPr>
        <p:spPr>
          <a:xfrm>
            <a:off x="5303520" y="1005840"/>
            <a:ext cx="6492240" cy="5394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32120" y="1097280"/>
            <a:ext cx="6035040" cy="411480"/>
          </a:xfrm>
          <a:prstGeom prst="rect">
            <a:avLst/>
          </a:prstGeom>
          <a:noFill/>
        </p:spPr>
        <p:txBody>
          <a:bodyPr wrap="square">
            <a:spAutoFit/>
          </a:bodyPr>
          <a:lstStyle/>
          <a:p>
            <a:pPr algn="l"/>
            <a:r>
              <a:rPr sz="1300" b="1" i="0">
                <a:solidFill>
                  <a:srgbClr val="FF6B6B"/>
                </a:solidFill>
                <a:latin typeface="Calibri"/>
              </a:rPr>
              <a:t>WHY BEGINNERS DON'T INVEST</a:t>
            </a:r>
          </a:p>
        </p:txBody>
      </p:sp>
      <p:sp>
        <p:nvSpPr>
          <p:cNvPr id="16" name="TextBox 15"/>
          <p:cNvSpPr txBox="1"/>
          <p:nvPr/>
        </p:nvSpPr>
        <p:spPr>
          <a:xfrm>
            <a:off x="5532120" y="1600200"/>
            <a:ext cx="6035040" cy="4389120"/>
          </a:xfrm>
          <a:prstGeom prst="rect">
            <a:avLst/>
          </a:prstGeom>
          <a:noFill/>
        </p:spPr>
        <p:txBody>
          <a:bodyPr wrap="square">
            <a:spAutoFit/>
          </a:bodyPr>
          <a:lstStyle/>
          <a:p>
            <a:pPr>
              <a:spcBef>
                <a:spcPts val="400"/>
              </a:spcBef>
            </a:pPr>
            <a:r>
              <a:rPr sz="1400">
                <a:solidFill>
                  <a:srgbClr val="C8C8C8"/>
                </a:solidFill>
                <a:latin typeface="Calibri"/>
              </a:rPr>
              <a:t>  →  Information overload — too many products, tickers, and strategies</a:t>
            </a:r>
          </a:p>
          <a:p>
            <a:pPr>
              <a:spcBef>
                <a:spcPts val="400"/>
              </a:spcBef>
            </a:pPr>
            <a:r>
              <a:rPr sz="1400">
                <a:solidFill>
                  <a:srgbClr val="C8C8C8"/>
                </a:solidFill>
                <a:latin typeface="Calibri"/>
              </a:rPr>
              <a:t>  →  Fear of making a costly mistake with real money</a:t>
            </a:r>
          </a:p>
          <a:p>
            <a:pPr>
              <a:spcBef>
                <a:spcPts val="400"/>
              </a:spcBef>
            </a:pPr>
            <a:r>
              <a:rPr sz="1400">
                <a:solidFill>
                  <a:srgbClr val="C8C8C8"/>
                </a:solidFill>
                <a:latin typeface="Calibri"/>
              </a:rPr>
              <a:t>  →  Brokerage forms require financial knowledge to complete</a:t>
            </a:r>
          </a:p>
          <a:p>
            <a:pPr>
              <a:spcBef>
                <a:spcPts val="400"/>
              </a:spcBef>
            </a:pPr>
            <a:r>
              <a:rPr sz="1400">
                <a:solidFill>
                  <a:srgbClr val="C8C8C8"/>
                </a:solidFill>
                <a:latin typeface="Calibri"/>
              </a:rPr>
              <a:t>  →  Existing tools tell you WHAT to buy — not WHY it fits you</a:t>
            </a:r>
          </a:p>
          <a:p>
            <a:pPr>
              <a:spcBef>
                <a:spcPts val="400"/>
              </a:spcBef>
            </a:pPr>
            <a:r>
              <a:rPr sz="1400">
                <a:solidFill>
                  <a:srgbClr val="C8C8C8"/>
                </a:solidFill>
                <a:latin typeface="Calibri"/>
              </a:rPr>
              <a:t>  →  No clear starting point for someone with $100–$200/month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Our Solution + Target User</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PROJECT OVERVIEW</a:t>
            </a:r>
          </a:p>
        </p:txBody>
      </p:sp>
      <p:sp>
        <p:nvSpPr>
          <p:cNvPr id="5" name="Rectangle 4"/>
          <p:cNvSpPr/>
          <p:nvPr/>
        </p:nvSpPr>
        <p:spPr>
          <a:xfrm>
            <a:off x="365760" y="914400"/>
            <a:ext cx="5943600" cy="5394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05840"/>
            <a:ext cx="5486400" cy="411480"/>
          </a:xfrm>
          <a:prstGeom prst="rect">
            <a:avLst/>
          </a:prstGeom>
          <a:noFill/>
        </p:spPr>
        <p:txBody>
          <a:bodyPr wrap="square">
            <a:spAutoFit/>
          </a:bodyPr>
          <a:lstStyle/>
          <a:p>
            <a:pPr algn="l"/>
            <a:r>
              <a:rPr sz="1300" b="1" i="0">
                <a:solidFill>
                  <a:srgbClr val="4ECDC4"/>
                </a:solidFill>
                <a:latin typeface="Calibri"/>
              </a:rPr>
              <a:t>CHATFOLIO</a:t>
            </a:r>
          </a:p>
        </p:txBody>
      </p:sp>
      <p:sp>
        <p:nvSpPr>
          <p:cNvPr id="7" name="TextBox 6"/>
          <p:cNvSpPr txBox="1"/>
          <p:nvPr/>
        </p:nvSpPr>
        <p:spPr>
          <a:xfrm>
            <a:off x="594360" y="1463040"/>
            <a:ext cx="5486400" cy="685800"/>
          </a:xfrm>
          <a:prstGeom prst="rect">
            <a:avLst/>
          </a:prstGeom>
          <a:noFill/>
        </p:spPr>
        <p:txBody>
          <a:bodyPr wrap="square">
            <a:spAutoFit/>
          </a:bodyPr>
          <a:lstStyle/>
          <a:p>
            <a:pPr algn="l"/>
            <a:r>
              <a:rPr sz="1400" b="0" i="0">
                <a:solidFill>
                  <a:srgbClr val="C8C8C8"/>
                </a:solidFill>
                <a:latin typeface="Calibri"/>
              </a:rPr>
              <a:t>A conversational investment advisor that replaces brokerage forms with natural dialogue.</a:t>
            </a:r>
          </a:p>
        </p:txBody>
      </p:sp>
      <p:sp>
        <p:nvSpPr>
          <p:cNvPr id="8" name="TextBox 7"/>
          <p:cNvSpPr txBox="1"/>
          <p:nvPr/>
        </p:nvSpPr>
        <p:spPr>
          <a:xfrm>
            <a:off x="594360" y="2240280"/>
            <a:ext cx="5486400" cy="3840480"/>
          </a:xfrm>
          <a:prstGeom prst="rect">
            <a:avLst/>
          </a:prstGeom>
          <a:noFill/>
        </p:spPr>
        <p:txBody>
          <a:bodyPr wrap="square">
            <a:spAutoFit/>
          </a:bodyPr>
          <a:lstStyle/>
          <a:p>
            <a:pPr>
              <a:spcBef>
                <a:spcPts val="400"/>
              </a:spcBef>
            </a:pPr>
            <a:r>
              <a:rPr sz="1300">
                <a:solidFill>
                  <a:srgbClr val="FFFFFF"/>
                </a:solidFill>
                <a:latin typeface="Calibri"/>
              </a:rPr>
              <a:t>  ✦  User describes goals in plain language</a:t>
            </a:r>
          </a:p>
          <a:p>
            <a:pPr>
              <a:spcBef>
                <a:spcPts val="400"/>
              </a:spcBef>
            </a:pPr>
            <a:r>
              <a:rPr sz="1300">
                <a:solidFill>
                  <a:srgbClr val="FFFFFF"/>
                </a:solidFill>
                <a:latin typeface="Calibri"/>
              </a:rPr>
              <a:t>  ✦  GPT-4o-mini extracts profile through conversation</a:t>
            </a:r>
          </a:p>
          <a:p>
            <a:pPr>
              <a:spcBef>
                <a:spcPts val="400"/>
              </a:spcBef>
            </a:pPr>
            <a:r>
              <a:rPr sz="1300">
                <a:solidFill>
                  <a:srgbClr val="FFFFFF"/>
                </a:solidFill>
                <a:latin typeface="Calibri"/>
              </a:rPr>
              <a:t>  ✦  Live sidebar shows what the system has captured</a:t>
            </a:r>
          </a:p>
          <a:p>
            <a:pPr>
              <a:spcBef>
                <a:spcPts val="400"/>
              </a:spcBef>
            </a:pPr>
            <a:r>
              <a:rPr sz="1300">
                <a:solidFill>
                  <a:srgbClr val="FFFFFF"/>
                </a:solidFill>
                <a:latin typeface="Calibri"/>
              </a:rPr>
              <a:t>  ✦  User clicks "Generate My Portfolio" (human-in-the-loop)</a:t>
            </a:r>
          </a:p>
          <a:p>
            <a:pPr>
              <a:spcBef>
                <a:spcPts val="400"/>
              </a:spcBef>
            </a:pPr>
            <a:r>
              <a:rPr sz="1300">
                <a:solidFill>
                  <a:srgbClr val="FFFFFF"/>
                </a:solidFill>
                <a:latin typeface="Calibri"/>
              </a:rPr>
              <a:t>  ✦  Rule-based ETF allocation + AI-written rationale</a:t>
            </a:r>
          </a:p>
          <a:p>
            <a:pPr>
              <a:spcBef>
                <a:spcPts val="400"/>
              </a:spcBef>
            </a:pPr>
            <a:r>
              <a:rPr sz="1300">
                <a:solidFill>
                  <a:srgbClr val="FFFFFF"/>
                </a:solidFill>
                <a:latin typeface="Calibri"/>
              </a:rPr>
              <a:t>  ✦  Growth projections + step-by-step action plan</a:t>
            </a:r>
          </a:p>
          <a:p>
            <a:pPr>
              <a:spcBef>
                <a:spcPts val="400"/>
              </a:spcBef>
            </a:pPr>
            <a:r>
              <a:rPr sz="1300">
                <a:solidFill>
                  <a:srgbClr val="FFFFFF"/>
                </a:solidFill>
                <a:latin typeface="Calibri"/>
              </a:rPr>
              <a:t>  ✦  User can chat to adjust — portfolio regenerates</a:t>
            </a:r>
          </a:p>
        </p:txBody>
      </p:sp>
      <p:sp>
        <p:nvSpPr>
          <p:cNvPr id="9" name="Rectangle 8"/>
          <p:cNvSpPr/>
          <p:nvPr/>
        </p:nvSpPr>
        <p:spPr>
          <a:xfrm>
            <a:off x="6583680" y="914400"/>
            <a:ext cx="5212080" cy="5394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0" y="914400"/>
            <a:ext cx="5212080" cy="73152"/>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12280" y="1024128"/>
            <a:ext cx="4754880" cy="365760"/>
          </a:xfrm>
          <a:prstGeom prst="rect">
            <a:avLst/>
          </a:prstGeom>
          <a:noFill/>
        </p:spPr>
        <p:txBody>
          <a:bodyPr wrap="square">
            <a:spAutoFit/>
          </a:bodyPr>
          <a:lstStyle/>
          <a:p>
            <a:pPr algn="l"/>
            <a:r>
              <a:rPr sz="1100" b="1" i="0">
                <a:solidFill>
                  <a:srgbClr val="4ECDC4"/>
                </a:solidFill>
                <a:latin typeface="Calibri"/>
              </a:rPr>
              <a:t>MEET MARCUS — OUR TARGET USER</a:t>
            </a:r>
          </a:p>
        </p:txBody>
      </p:sp>
      <p:sp>
        <p:nvSpPr>
          <p:cNvPr id="12" name="TextBox 11"/>
          <p:cNvSpPr txBox="1"/>
          <p:nvPr/>
        </p:nvSpPr>
        <p:spPr>
          <a:xfrm>
            <a:off x="6812280" y="1508760"/>
            <a:ext cx="1280160" cy="457200"/>
          </a:xfrm>
          <a:prstGeom prst="rect">
            <a:avLst/>
          </a:prstGeom>
          <a:noFill/>
        </p:spPr>
        <p:txBody>
          <a:bodyPr wrap="square">
            <a:spAutoFit/>
          </a:bodyPr>
          <a:lstStyle/>
          <a:p>
            <a:pPr algn="l"/>
            <a:r>
              <a:rPr sz="1200" b="1" i="0">
                <a:solidFill>
                  <a:srgbClr val="4ECDC4"/>
                </a:solidFill>
                <a:latin typeface="Calibri"/>
              </a:rPr>
              <a:t>Age</a:t>
            </a:r>
          </a:p>
        </p:txBody>
      </p:sp>
      <p:sp>
        <p:nvSpPr>
          <p:cNvPr id="13" name="TextBox 12"/>
          <p:cNvSpPr txBox="1"/>
          <p:nvPr/>
        </p:nvSpPr>
        <p:spPr>
          <a:xfrm>
            <a:off x="8138160" y="1508760"/>
            <a:ext cx="3474720" cy="457200"/>
          </a:xfrm>
          <a:prstGeom prst="rect">
            <a:avLst/>
          </a:prstGeom>
          <a:noFill/>
        </p:spPr>
        <p:txBody>
          <a:bodyPr wrap="square">
            <a:spAutoFit/>
          </a:bodyPr>
          <a:lstStyle/>
          <a:p>
            <a:pPr algn="l"/>
            <a:r>
              <a:rPr sz="1200" b="0" i="0">
                <a:solidFill>
                  <a:srgbClr val="C8C8C8"/>
                </a:solidFill>
                <a:latin typeface="Calibri"/>
              </a:rPr>
              <a:t>26 — recent grad, first full-time job</a:t>
            </a:r>
          </a:p>
        </p:txBody>
      </p:sp>
      <p:sp>
        <p:nvSpPr>
          <p:cNvPr id="14" name="TextBox 13"/>
          <p:cNvSpPr txBox="1"/>
          <p:nvPr/>
        </p:nvSpPr>
        <p:spPr>
          <a:xfrm>
            <a:off x="6812280" y="2194560"/>
            <a:ext cx="1280160" cy="457200"/>
          </a:xfrm>
          <a:prstGeom prst="rect">
            <a:avLst/>
          </a:prstGeom>
          <a:noFill/>
        </p:spPr>
        <p:txBody>
          <a:bodyPr wrap="square">
            <a:spAutoFit/>
          </a:bodyPr>
          <a:lstStyle/>
          <a:p>
            <a:pPr algn="l"/>
            <a:r>
              <a:rPr sz="1200" b="1" i="0">
                <a:solidFill>
                  <a:srgbClr val="4ECDC4"/>
                </a:solidFill>
                <a:latin typeface="Calibri"/>
              </a:rPr>
              <a:t>Budget</a:t>
            </a:r>
          </a:p>
        </p:txBody>
      </p:sp>
      <p:sp>
        <p:nvSpPr>
          <p:cNvPr id="15" name="TextBox 14"/>
          <p:cNvSpPr txBox="1"/>
          <p:nvPr/>
        </p:nvSpPr>
        <p:spPr>
          <a:xfrm>
            <a:off x="8138160" y="2194560"/>
            <a:ext cx="3474720" cy="457200"/>
          </a:xfrm>
          <a:prstGeom prst="rect">
            <a:avLst/>
          </a:prstGeom>
          <a:noFill/>
        </p:spPr>
        <p:txBody>
          <a:bodyPr wrap="square">
            <a:spAutoFit/>
          </a:bodyPr>
          <a:lstStyle/>
          <a:p>
            <a:pPr algn="l"/>
            <a:r>
              <a:rPr sz="1200" b="0" i="0">
                <a:solidFill>
                  <a:srgbClr val="C8C8C8"/>
                </a:solidFill>
                <a:latin typeface="Calibri"/>
              </a:rPr>
              <a:t>~$150/month to invest</a:t>
            </a:r>
          </a:p>
        </p:txBody>
      </p:sp>
      <p:sp>
        <p:nvSpPr>
          <p:cNvPr id="16" name="TextBox 15"/>
          <p:cNvSpPr txBox="1"/>
          <p:nvPr/>
        </p:nvSpPr>
        <p:spPr>
          <a:xfrm>
            <a:off x="6812280" y="2880360"/>
            <a:ext cx="1280160" cy="457200"/>
          </a:xfrm>
          <a:prstGeom prst="rect">
            <a:avLst/>
          </a:prstGeom>
          <a:noFill/>
        </p:spPr>
        <p:txBody>
          <a:bodyPr wrap="square">
            <a:spAutoFit/>
          </a:bodyPr>
          <a:lstStyle/>
          <a:p>
            <a:pPr algn="l"/>
            <a:r>
              <a:rPr sz="1200" b="1" i="0">
                <a:solidFill>
                  <a:srgbClr val="4ECDC4"/>
                </a:solidFill>
                <a:latin typeface="Calibri"/>
              </a:rPr>
              <a:t>Knowledge</a:t>
            </a:r>
          </a:p>
        </p:txBody>
      </p:sp>
      <p:sp>
        <p:nvSpPr>
          <p:cNvPr id="17" name="TextBox 16"/>
          <p:cNvSpPr txBox="1"/>
          <p:nvPr/>
        </p:nvSpPr>
        <p:spPr>
          <a:xfrm>
            <a:off x="8138160" y="2880360"/>
            <a:ext cx="3474720" cy="457200"/>
          </a:xfrm>
          <a:prstGeom prst="rect">
            <a:avLst/>
          </a:prstGeom>
          <a:noFill/>
        </p:spPr>
        <p:txBody>
          <a:bodyPr wrap="square">
            <a:spAutoFit/>
          </a:bodyPr>
          <a:lstStyle/>
          <a:p>
            <a:pPr algn="l"/>
            <a:r>
              <a:rPr sz="1200" b="0" i="0">
                <a:solidFill>
                  <a:srgbClr val="C8C8C8"/>
                </a:solidFill>
                <a:latin typeface="Calibri"/>
              </a:rPr>
              <a:t>Intimidated by financial jargon</a:t>
            </a:r>
          </a:p>
        </p:txBody>
      </p:sp>
      <p:sp>
        <p:nvSpPr>
          <p:cNvPr id="18" name="TextBox 17"/>
          <p:cNvSpPr txBox="1"/>
          <p:nvPr/>
        </p:nvSpPr>
        <p:spPr>
          <a:xfrm>
            <a:off x="6812280" y="3566160"/>
            <a:ext cx="1280160" cy="457200"/>
          </a:xfrm>
          <a:prstGeom prst="rect">
            <a:avLst/>
          </a:prstGeom>
          <a:noFill/>
        </p:spPr>
        <p:txBody>
          <a:bodyPr wrap="square">
            <a:spAutoFit/>
          </a:bodyPr>
          <a:lstStyle/>
          <a:p>
            <a:pPr algn="l"/>
            <a:r>
              <a:rPr sz="1200" b="1" i="0">
                <a:solidFill>
                  <a:srgbClr val="4ECDC4"/>
                </a:solidFill>
                <a:latin typeface="Calibri"/>
              </a:rPr>
              <a:t>Comfort</a:t>
            </a:r>
          </a:p>
        </p:txBody>
      </p:sp>
      <p:sp>
        <p:nvSpPr>
          <p:cNvPr id="19" name="TextBox 18"/>
          <p:cNvSpPr txBox="1"/>
          <p:nvPr/>
        </p:nvSpPr>
        <p:spPr>
          <a:xfrm>
            <a:off x="8138160" y="3566160"/>
            <a:ext cx="3474720" cy="457200"/>
          </a:xfrm>
          <a:prstGeom prst="rect">
            <a:avLst/>
          </a:prstGeom>
          <a:noFill/>
        </p:spPr>
        <p:txBody>
          <a:bodyPr wrap="square">
            <a:spAutoFit/>
          </a:bodyPr>
          <a:lstStyle/>
          <a:p>
            <a:pPr algn="l"/>
            <a:r>
              <a:rPr sz="1200" b="0" i="0">
                <a:solidFill>
                  <a:srgbClr val="C8C8C8"/>
                </a:solidFill>
                <a:latin typeface="Calibri"/>
              </a:rPr>
              <a:t>Comfortable with chat interfaces</a:t>
            </a:r>
          </a:p>
        </p:txBody>
      </p:sp>
      <p:sp>
        <p:nvSpPr>
          <p:cNvPr id="20" name="TextBox 19"/>
          <p:cNvSpPr txBox="1"/>
          <p:nvPr/>
        </p:nvSpPr>
        <p:spPr>
          <a:xfrm>
            <a:off x="6812280" y="4251960"/>
            <a:ext cx="1280160" cy="457200"/>
          </a:xfrm>
          <a:prstGeom prst="rect">
            <a:avLst/>
          </a:prstGeom>
          <a:noFill/>
        </p:spPr>
        <p:txBody>
          <a:bodyPr wrap="square">
            <a:spAutoFit/>
          </a:bodyPr>
          <a:lstStyle/>
          <a:p>
            <a:pPr algn="l"/>
            <a:r>
              <a:rPr sz="1200" b="1" i="0">
                <a:solidFill>
                  <a:srgbClr val="4ECDC4"/>
                </a:solidFill>
                <a:latin typeface="Calibri"/>
              </a:rPr>
              <a:t>Goal</a:t>
            </a:r>
          </a:p>
        </p:txBody>
      </p:sp>
      <p:sp>
        <p:nvSpPr>
          <p:cNvPr id="21" name="TextBox 20"/>
          <p:cNvSpPr txBox="1"/>
          <p:nvPr/>
        </p:nvSpPr>
        <p:spPr>
          <a:xfrm>
            <a:off x="8138160" y="4251960"/>
            <a:ext cx="3474720" cy="457200"/>
          </a:xfrm>
          <a:prstGeom prst="rect">
            <a:avLst/>
          </a:prstGeom>
          <a:noFill/>
        </p:spPr>
        <p:txBody>
          <a:bodyPr wrap="square">
            <a:spAutoFit/>
          </a:bodyPr>
          <a:lstStyle/>
          <a:p>
            <a:pPr algn="l"/>
            <a:r>
              <a:rPr sz="1200" b="0" i="0">
                <a:solidFill>
                  <a:srgbClr val="C8C8C8"/>
                </a:solidFill>
                <a:latin typeface="Calibri"/>
              </a:rPr>
              <a:t>Build wealth without learning finance theory</a:t>
            </a:r>
          </a:p>
        </p:txBody>
      </p:sp>
      <p:sp>
        <p:nvSpPr>
          <p:cNvPr id="22" name="TextBox 21"/>
          <p:cNvSpPr txBox="1"/>
          <p:nvPr/>
        </p:nvSpPr>
        <p:spPr>
          <a:xfrm>
            <a:off x="6812280" y="4937760"/>
            <a:ext cx="1280160" cy="457200"/>
          </a:xfrm>
          <a:prstGeom prst="rect">
            <a:avLst/>
          </a:prstGeom>
          <a:noFill/>
        </p:spPr>
        <p:txBody>
          <a:bodyPr wrap="square">
            <a:spAutoFit/>
          </a:bodyPr>
          <a:lstStyle/>
          <a:p>
            <a:pPr algn="l"/>
            <a:r>
              <a:rPr sz="1200" b="1" i="0">
                <a:solidFill>
                  <a:srgbClr val="4ECDC4"/>
                </a:solidFill>
                <a:latin typeface="Calibri"/>
              </a:rPr>
              <a:t>Problem</a:t>
            </a:r>
          </a:p>
        </p:txBody>
      </p:sp>
      <p:sp>
        <p:nvSpPr>
          <p:cNvPr id="23" name="TextBox 22"/>
          <p:cNvSpPr txBox="1"/>
          <p:nvPr/>
        </p:nvSpPr>
        <p:spPr>
          <a:xfrm>
            <a:off x="8138160" y="4937760"/>
            <a:ext cx="3474720" cy="457200"/>
          </a:xfrm>
          <a:prstGeom prst="rect">
            <a:avLst/>
          </a:prstGeom>
          <a:noFill/>
        </p:spPr>
        <p:txBody>
          <a:bodyPr wrap="square">
            <a:spAutoFit/>
          </a:bodyPr>
          <a:lstStyle/>
          <a:p>
            <a:pPr algn="l"/>
            <a:r>
              <a:rPr sz="1200" b="0" i="0">
                <a:solidFill>
                  <a:srgbClr val="C8C8C8"/>
                </a:solidFill>
                <a:latin typeface="Calibri"/>
              </a:rPr>
              <a:t>Doesn't know where or how to start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How It Works</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PROJECT OVERVIEW</a:t>
            </a:r>
          </a:p>
        </p:txBody>
      </p:sp>
      <p:sp>
        <p:nvSpPr>
          <p:cNvPr id="5" name="Rectangle 4"/>
          <p:cNvSpPr/>
          <p:nvPr/>
        </p:nvSpPr>
        <p:spPr>
          <a:xfrm>
            <a:off x="937260" y="1371600"/>
            <a:ext cx="1828800" cy="10058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7260" y="1371600"/>
            <a:ext cx="1828800" cy="1005840"/>
          </a:xfrm>
          <a:prstGeom prst="rect">
            <a:avLst/>
          </a:prstGeom>
          <a:noFill/>
        </p:spPr>
        <p:txBody>
          <a:bodyPr wrap="square">
            <a:spAutoFit/>
          </a:bodyPr>
          <a:lstStyle/>
          <a:p>
            <a:pPr algn="ctr"/>
            <a:r>
              <a:rPr sz="1300" b="1" i="0">
                <a:solidFill>
                  <a:srgbClr val="1A1A2E"/>
                </a:solidFill>
                <a:latin typeface="Calibri"/>
              </a:rPr>
              <a:t>User
Chat</a:t>
            </a:r>
          </a:p>
        </p:txBody>
      </p:sp>
      <p:sp>
        <p:nvSpPr>
          <p:cNvPr id="7" name="TextBox 6"/>
          <p:cNvSpPr txBox="1"/>
          <p:nvPr/>
        </p:nvSpPr>
        <p:spPr>
          <a:xfrm>
            <a:off x="2802636" y="1828800"/>
            <a:ext cx="201168" cy="320040"/>
          </a:xfrm>
          <a:prstGeom prst="rect">
            <a:avLst/>
          </a:prstGeom>
          <a:noFill/>
        </p:spPr>
        <p:txBody>
          <a:bodyPr wrap="square">
            <a:spAutoFit/>
          </a:bodyPr>
          <a:lstStyle/>
          <a:p>
            <a:pPr algn="ctr"/>
            <a:r>
              <a:rPr sz="1600" b="1" i="0">
                <a:solidFill>
                  <a:srgbClr val="C8C8C8"/>
                </a:solidFill>
                <a:latin typeface="Calibri"/>
              </a:rPr>
              <a:t>→</a:t>
            </a:r>
          </a:p>
        </p:txBody>
      </p:sp>
      <p:sp>
        <p:nvSpPr>
          <p:cNvPr id="8" name="Rectangle 7"/>
          <p:cNvSpPr/>
          <p:nvPr/>
        </p:nvSpPr>
        <p:spPr>
          <a:xfrm>
            <a:off x="3058668" y="1371600"/>
            <a:ext cx="1828800" cy="10058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58668" y="1371600"/>
            <a:ext cx="1828800" cy="1005840"/>
          </a:xfrm>
          <a:prstGeom prst="rect">
            <a:avLst/>
          </a:prstGeom>
          <a:noFill/>
        </p:spPr>
        <p:txBody>
          <a:bodyPr wrap="square">
            <a:spAutoFit/>
          </a:bodyPr>
          <a:lstStyle/>
          <a:p>
            <a:pPr algn="ctr"/>
            <a:r>
              <a:rPr sz="1300" b="1" i="0">
                <a:solidFill>
                  <a:srgbClr val="1A1A2E"/>
                </a:solidFill>
                <a:latin typeface="Calibri"/>
              </a:rPr>
              <a:t>GPT-4o-mini
(JSON mode)</a:t>
            </a:r>
          </a:p>
        </p:txBody>
      </p:sp>
      <p:sp>
        <p:nvSpPr>
          <p:cNvPr id="10" name="TextBox 9"/>
          <p:cNvSpPr txBox="1"/>
          <p:nvPr/>
        </p:nvSpPr>
        <p:spPr>
          <a:xfrm>
            <a:off x="4924044" y="1828800"/>
            <a:ext cx="201168" cy="320040"/>
          </a:xfrm>
          <a:prstGeom prst="rect">
            <a:avLst/>
          </a:prstGeom>
          <a:noFill/>
        </p:spPr>
        <p:txBody>
          <a:bodyPr wrap="square">
            <a:spAutoFit/>
          </a:bodyPr>
          <a:lstStyle/>
          <a:p>
            <a:pPr algn="ctr"/>
            <a:r>
              <a:rPr sz="1600" b="1" i="0">
                <a:solidFill>
                  <a:srgbClr val="C8C8C8"/>
                </a:solidFill>
                <a:latin typeface="Calibri"/>
              </a:rPr>
              <a:t>→</a:t>
            </a:r>
          </a:p>
        </p:txBody>
      </p:sp>
      <p:sp>
        <p:nvSpPr>
          <p:cNvPr id="11" name="Rectangle 10"/>
          <p:cNvSpPr/>
          <p:nvPr/>
        </p:nvSpPr>
        <p:spPr>
          <a:xfrm>
            <a:off x="5180076" y="1371600"/>
            <a:ext cx="1828800" cy="10058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80076" y="1371600"/>
            <a:ext cx="1828800" cy="1005840"/>
          </a:xfrm>
          <a:prstGeom prst="rect">
            <a:avLst/>
          </a:prstGeom>
          <a:noFill/>
        </p:spPr>
        <p:txBody>
          <a:bodyPr wrap="square">
            <a:spAutoFit/>
          </a:bodyPr>
          <a:lstStyle/>
          <a:p>
            <a:pPr algn="ctr"/>
            <a:r>
              <a:rPr sz="1300" b="1" i="0">
                <a:solidFill>
                  <a:srgbClr val="1A1A2E"/>
                </a:solidFill>
                <a:latin typeface="Calibri"/>
              </a:rPr>
              <a:t>Live Profile
Sidebar</a:t>
            </a:r>
          </a:p>
        </p:txBody>
      </p:sp>
      <p:sp>
        <p:nvSpPr>
          <p:cNvPr id="13" name="TextBox 12"/>
          <p:cNvSpPr txBox="1"/>
          <p:nvPr/>
        </p:nvSpPr>
        <p:spPr>
          <a:xfrm>
            <a:off x="7045452" y="1828800"/>
            <a:ext cx="201168" cy="320040"/>
          </a:xfrm>
          <a:prstGeom prst="rect">
            <a:avLst/>
          </a:prstGeom>
          <a:noFill/>
        </p:spPr>
        <p:txBody>
          <a:bodyPr wrap="square">
            <a:spAutoFit/>
          </a:bodyPr>
          <a:lstStyle/>
          <a:p>
            <a:pPr algn="ctr"/>
            <a:r>
              <a:rPr sz="1600" b="1" i="0">
                <a:solidFill>
                  <a:srgbClr val="C8C8C8"/>
                </a:solidFill>
                <a:latin typeface="Calibri"/>
              </a:rPr>
              <a:t>→</a:t>
            </a:r>
          </a:p>
        </p:txBody>
      </p:sp>
      <p:sp>
        <p:nvSpPr>
          <p:cNvPr id="14" name="Rectangle 13"/>
          <p:cNvSpPr/>
          <p:nvPr/>
        </p:nvSpPr>
        <p:spPr>
          <a:xfrm>
            <a:off x="7301484" y="1371600"/>
            <a:ext cx="1828800" cy="10058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01484" y="1371600"/>
            <a:ext cx="1828800" cy="1005840"/>
          </a:xfrm>
          <a:prstGeom prst="rect">
            <a:avLst/>
          </a:prstGeom>
          <a:noFill/>
        </p:spPr>
        <p:txBody>
          <a:bodyPr wrap="square">
            <a:spAutoFit/>
          </a:bodyPr>
          <a:lstStyle/>
          <a:p>
            <a:pPr algn="ctr"/>
            <a:r>
              <a:rPr sz="1300" b="1" i="0">
                <a:solidFill>
                  <a:srgbClr val="1A1A2E"/>
                </a:solidFill>
                <a:latin typeface="Calibri"/>
              </a:rPr>
              <a:t>Generate
Button</a:t>
            </a:r>
          </a:p>
        </p:txBody>
      </p:sp>
      <p:sp>
        <p:nvSpPr>
          <p:cNvPr id="16" name="TextBox 15"/>
          <p:cNvSpPr txBox="1"/>
          <p:nvPr/>
        </p:nvSpPr>
        <p:spPr>
          <a:xfrm>
            <a:off x="9166860" y="1828800"/>
            <a:ext cx="201168" cy="320040"/>
          </a:xfrm>
          <a:prstGeom prst="rect">
            <a:avLst/>
          </a:prstGeom>
          <a:noFill/>
        </p:spPr>
        <p:txBody>
          <a:bodyPr wrap="square">
            <a:spAutoFit/>
          </a:bodyPr>
          <a:lstStyle/>
          <a:p>
            <a:pPr algn="ctr"/>
            <a:r>
              <a:rPr sz="1600" b="1" i="0">
                <a:solidFill>
                  <a:srgbClr val="C8C8C8"/>
                </a:solidFill>
                <a:latin typeface="Calibri"/>
              </a:rPr>
              <a:t>→</a:t>
            </a:r>
          </a:p>
        </p:txBody>
      </p:sp>
      <p:sp>
        <p:nvSpPr>
          <p:cNvPr id="17" name="Rectangle 16"/>
          <p:cNvSpPr/>
          <p:nvPr/>
        </p:nvSpPr>
        <p:spPr>
          <a:xfrm>
            <a:off x="9422892" y="1371600"/>
            <a:ext cx="1828800" cy="10058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22892" y="1371600"/>
            <a:ext cx="1828800" cy="1005840"/>
          </a:xfrm>
          <a:prstGeom prst="rect">
            <a:avLst/>
          </a:prstGeom>
          <a:noFill/>
        </p:spPr>
        <p:txBody>
          <a:bodyPr wrap="square">
            <a:spAutoFit/>
          </a:bodyPr>
          <a:lstStyle/>
          <a:p>
            <a:pPr algn="ctr"/>
            <a:r>
              <a:rPr sz="1300" b="1" i="0">
                <a:solidFill>
                  <a:srgbClr val="1A1A2E"/>
                </a:solidFill>
                <a:latin typeface="Calibri"/>
              </a:rPr>
              <a:t>Portfolio +
Rationale +
Projections</a:t>
            </a:r>
          </a:p>
        </p:txBody>
      </p:sp>
      <p:sp>
        <p:nvSpPr>
          <p:cNvPr id="19" name="TextBox 18"/>
          <p:cNvSpPr txBox="1"/>
          <p:nvPr/>
        </p:nvSpPr>
        <p:spPr>
          <a:xfrm>
            <a:off x="365760" y="2743200"/>
            <a:ext cx="3657600" cy="365760"/>
          </a:xfrm>
          <a:prstGeom prst="rect">
            <a:avLst/>
          </a:prstGeom>
          <a:noFill/>
        </p:spPr>
        <p:txBody>
          <a:bodyPr wrap="square">
            <a:spAutoFit/>
          </a:bodyPr>
          <a:lstStyle/>
          <a:p>
            <a:pPr algn="l"/>
            <a:r>
              <a:rPr sz="1300" b="1" i="0">
                <a:solidFill>
                  <a:srgbClr val="C8C8C8"/>
                </a:solidFill>
                <a:latin typeface="Calibri"/>
              </a:rPr>
              <a:t>HAI Evaluation Criteria:</a:t>
            </a:r>
          </a:p>
        </p:txBody>
      </p:sp>
      <p:sp>
        <p:nvSpPr>
          <p:cNvPr id="20" name="Rectangle 19"/>
          <p:cNvSpPr/>
          <p:nvPr/>
        </p:nvSpPr>
        <p:spPr>
          <a:xfrm>
            <a:off x="365760" y="3246120"/>
            <a:ext cx="2834640" cy="3200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3246120"/>
            <a:ext cx="283464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355848"/>
            <a:ext cx="2560320" cy="411480"/>
          </a:xfrm>
          <a:prstGeom prst="rect">
            <a:avLst/>
          </a:prstGeom>
          <a:noFill/>
        </p:spPr>
        <p:txBody>
          <a:bodyPr wrap="square">
            <a:spAutoFit/>
          </a:bodyPr>
          <a:lstStyle/>
          <a:p>
            <a:pPr algn="l"/>
            <a:r>
              <a:rPr sz="1300" b="1" i="0">
                <a:solidFill>
                  <a:srgbClr val="EF4444"/>
                </a:solidFill>
                <a:latin typeface="Calibri"/>
              </a:rPr>
              <a:t>Onboarding</a:t>
            </a:r>
          </a:p>
        </p:txBody>
      </p:sp>
      <p:sp>
        <p:nvSpPr>
          <p:cNvPr id="23" name="TextBox 22"/>
          <p:cNvSpPr txBox="1"/>
          <p:nvPr/>
        </p:nvSpPr>
        <p:spPr>
          <a:xfrm>
            <a:off x="502920" y="3822191"/>
            <a:ext cx="2560320" cy="2468880"/>
          </a:xfrm>
          <a:prstGeom prst="rect">
            <a:avLst/>
          </a:prstGeom>
          <a:noFill/>
        </p:spPr>
        <p:txBody>
          <a:bodyPr wrap="square">
            <a:spAutoFit/>
          </a:bodyPr>
          <a:lstStyle/>
          <a:p>
            <a:pPr algn="l"/>
            <a:r>
              <a:rPr sz="1100" b="0" i="0">
                <a:solidFill>
                  <a:srgbClr val="C8C8C8"/>
                </a:solidFill>
                <a:latin typeface="Calibri"/>
              </a:rPr>
              <a:t>Explainer panel, disclaimer,
post-gen guidance banner</a:t>
            </a:r>
          </a:p>
        </p:txBody>
      </p:sp>
      <p:sp>
        <p:nvSpPr>
          <p:cNvPr id="24" name="Rectangle 23"/>
          <p:cNvSpPr/>
          <p:nvPr/>
        </p:nvSpPr>
        <p:spPr>
          <a:xfrm>
            <a:off x="3310128" y="3246120"/>
            <a:ext cx="2834640" cy="3200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10128" y="3246120"/>
            <a:ext cx="283464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47288" y="3355848"/>
            <a:ext cx="2560320" cy="411480"/>
          </a:xfrm>
          <a:prstGeom prst="rect">
            <a:avLst/>
          </a:prstGeom>
          <a:noFill/>
        </p:spPr>
        <p:txBody>
          <a:bodyPr wrap="square">
            <a:spAutoFit/>
          </a:bodyPr>
          <a:lstStyle/>
          <a:p>
            <a:pPr algn="l"/>
            <a:r>
              <a:rPr sz="1300" b="1" i="0">
                <a:solidFill>
                  <a:srgbClr val="F97316"/>
                </a:solidFill>
                <a:latin typeface="Calibri"/>
              </a:rPr>
              <a:t>User Input</a:t>
            </a:r>
          </a:p>
        </p:txBody>
      </p:sp>
      <p:sp>
        <p:nvSpPr>
          <p:cNvPr id="27" name="TextBox 26"/>
          <p:cNvSpPr txBox="1"/>
          <p:nvPr/>
        </p:nvSpPr>
        <p:spPr>
          <a:xfrm>
            <a:off x="3447288" y="3822191"/>
            <a:ext cx="2560320" cy="2468880"/>
          </a:xfrm>
          <a:prstGeom prst="rect">
            <a:avLst/>
          </a:prstGeom>
          <a:noFill/>
        </p:spPr>
        <p:txBody>
          <a:bodyPr wrap="square">
            <a:spAutoFit/>
          </a:bodyPr>
          <a:lstStyle/>
          <a:p>
            <a:pPr algn="l"/>
            <a:r>
              <a:rPr sz="1100" b="0" i="0">
                <a:solidFill>
                  <a:srgbClr val="C8C8C8"/>
                </a:solidFill>
                <a:latin typeface="Calibri"/>
              </a:rPr>
              <a:t>Conversational Q&amp;A, one question
at a time, open-ended extras</a:t>
            </a:r>
          </a:p>
        </p:txBody>
      </p:sp>
      <p:sp>
        <p:nvSpPr>
          <p:cNvPr id="28" name="Rectangle 27"/>
          <p:cNvSpPr/>
          <p:nvPr/>
        </p:nvSpPr>
        <p:spPr>
          <a:xfrm>
            <a:off x="6254496" y="3246120"/>
            <a:ext cx="2834640" cy="3200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54496" y="3246120"/>
            <a:ext cx="283464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91656" y="3355848"/>
            <a:ext cx="2560320" cy="411480"/>
          </a:xfrm>
          <a:prstGeom prst="rect">
            <a:avLst/>
          </a:prstGeom>
          <a:noFill/>
        </p:spPr>
        <p:txBody>
          <a:bodyPr wrap="square">
            <a:spAutoFit/>
          </a:bodyPr>
          <a:lstStyle/>
          <a:p>
            <a:pPr algn="l"/>
            <a:r>
              <a:rPr sz="1300" b="1" i="0">
                <a:solidFill>
                  <a:srgbClr val="22C55E"/>
                </a:solidFill>
                <a:latin typeface="Calibri"/>
              </a:rPr>
              <a:t>System Output</a:t>
            </a:r>
          </a:p>
        </p:txBody>
      </p:sp>
      <p:sp>
        <p:nvSpPr>
          <p:cNvPr id="31" name="TextBox 30"/>
          <p:cNvSpPr txBox="1"/>
          <p:nvPr/>
        </p:nvSpPr>
        <p:spPr>
          <a:xfrm>
            <a:off x="6391656" y="3822191"/>
            <a:ext cx="2560320" cy="2468880"/>
          </a:xfrm>
          <a:prstGeom prst="rect">
            <a:avLst/>
          </a:prstGeom>
          <a:noFill/>
        </p:spPr>
        <p:txBody>
          <a:bodyPr wrap="square">
            <a:spAutoFit/>
          </a:bodyPr>
          <a:lstStyle/>
          <a:p>
            <a:pPr algn="l"/>
            <a:r>
              <a:rPr sz="1100" b="0" i="0">
                <a:solidFill>
                  <a:srgbClr val="C8C8C8"/>
                </a:solidFill>
                <a:latin typeface="Calibri"/>
              </a:rPr>
              <a:t>Live sidebar, portfolio rationale,
projections, action plan</a:t>
            </a:r>
          </a:p>
        </p:txBody>
      </p:sp>
      <p:sp>
        <p:nvSpPr>
          <p:cNvPr id="32" name="Rectangle 31"/>
          <p:cNvSpPr/>
          <p:nvPr/>
        </p:nvSpPr>
        <p:spPr>
          <a:xfrm>
            <a:off x="9198864" y="3246120"/>
            <a:ext cx="2834640" cy="3200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98864" y="3246120"/>
            <a:ext cx="283464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36024" y="3355848"/>
            <a:ext cx="2560320" cy="411480"/>
          </a:xfrm>
          <a:prstGeom prst="rect">
            <a:avLst/>
          </a:prstGeom>
          <a:noFill/>
        </p:spPr>
        <p:txBody>
          <a:bodyPr wrap="square">
            <a:spAutoFit/>
          </a:bodyPr>
          <a:lstStyle/>
          <a:p>
            <a:pPr algn="l"/>
            <a:r>
              <a:rPr sz="1300" b="1" i="0">
                <a:solidFill>
                  <a:srgbClr val="3B82F6"/>
                </a:solidFill>
                <a:latin typeface="Calibri"/>
              </a:rPr>
              <a:t>User Feedback</a:t>
            </a:r>
          </a:p>
        </p:txBody>
      </p:sp>
      <p:sp>
        <p:nvSpPr>
          <p:cNvPr id="35" name="TextBox 34"/>
          <p:cNvSpPr txBox="1"/>
          <p:nvPr/>
        </p:nvSpPr>
        <p:spPr>
          <a:xfrm>
            <a:off x="9336024" y="3822191"/>
            <a:ext cx="2560320" cy="2468880"/>
          </a:xfrm>
          <a:prstGeom prst="rect">
            <a:avLst/>
          </a:prstGeom>
          <a:noFill/>
        </p:spPr>
        <p:txBody>
          <a:bodyPr wrap="square">
            <a:spAutoFit/>
          </a:bodyPr>
          <a:lstStyle/>
          <a:p>
            <a:pPr algn="l"/>
            <a:r>
              <a:rPr sz="1100" b="0" i="0">
                <a:solidFill>
                  <a:srgbClr val="C8C8C8"/>
                </a:solidFill>
                <a:latin typeface="Calibri"/>
              </a:rPr>
              <a:t>Confirmation loops, edit loop,
spinner + toast on update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v0.1 — Initial Prototype</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PROTOTYPE EVOLUTION  |  March 2026</a:t>
            </a:r>
          </a:p>
        </p:txBody>
      </p:sp>
      <p:sp>
        <p:nvSpPr>
          <p:cNvPr id="5" name="TextBox 4"/>
          <p:cNvSpPr txBox="1"/>
          <p:nvPr/>
        </p:nvSpPr>
        <p:spPr>
          <a:xfrm>
            <a:off x="457200" y="749808"/>
            <a:ext cx="8229600" cy="320040"/>
          </a:xfrm>
          <a:prstGeom prst="rect">
            <a:avLst/>
          </a:prstGeom>
          <a:noFill/>
        </p:spPr>
        <p:txBody>
          <a:bodyPr wrap="square">
            <a:spAutoFit/>
          </a:bodyPr>
          <a:lstStyle/>
          <a:p>
            <a:pPr algn="l"/>
            <a:r>
              <a:rPr sz="1300" b="0" i="1">
                <a:solidFill>
                  <a:srgbClr val="78788C"/>
                </a:solidFill>
                <a:latin typeface="Calibri"/>
              </a:rPr>
              <a:t>Lovable no-code mockup — static UI, no real AI</a:t>
            </a:r>
          </a:p>
        </p:txBody>
      </p:sp>
      <p:sp>
        <p:nvSpPr>
          <p:cNvPr id="6" name="Rectangle 5"/>
          <p:cNvSpPr/>
          <p:nvPr/>
        </p:nvSpPr>
        <p:spPr>
          <a:xfrm>
            <a:off x="320040" y="1143000"/>
            <a:ext cx="5394960" cy="4206240"/>
          </a:xfrm>
          <a:prstGeom prst="rect">
            <a:avLst/>
          </a:prstGeom>
          <a:solidFill>
            <a:srgbClr val="283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80760" y="1143000"/>
            <a:ext cx="5394960" cy="4206240"/>
          </a:xfrm>
          <a:prstGeom prst="rect">
            <a:avLst/>
          </a:prstGeom>
          <a:solidFill>
            <a:srgbClr val="283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veable_landing_page.png"/>
          <p:cNvPicPr>
            <a:picLocks noChangeAspect="1"/>
          </p:cNvPicPr>
          <p:nvPr/>
        </p:nvPicPr>
        <p:blipFill>
          <a:blip r:embed="rId2"/>
          <a:stretch>
            <a:fillRect/>
          </a:stretch>
        </p:blipFill>
        <p:spPr>
          <a:xfrm>
            <a:off x="365760" y="1188720"/>
            <a:ext cx="5303520" cy="4114800"/>
          </a:xfrm>
          <a:prstGeom prst="rect">
            <a:avLst/>
          </a:prstGeom>
        </p:spPr>
      </p:pic>
      <p:pic>
        <p:nvPicPr>
          <p:cNvPr id="9" name="Picture 8" descr="loveable_goal.png"/>
          <p:cNvPicPr>
            <a:picLocks noChangeAspect="1"/>
          </p:cNvPicPr>
          <p:nvPr/>
        </p:nvPicPr>
        <p:blipFill>
          <a:blip r:embed="rId3"/>
          <a:stretch>
            <a:fillRect/>
          </a:stretch>
        </p:blipFill>
        <p:spPr>
          <a:xfrm>
            <a:off x="6126480" y="1188720"/>
            <a:ext cx="5303520" cy="4114800"/>
          </a:xfrm>
          <a:prstGeom prst="rect">
            <a:avLst/>
          </a:prstGeom>
        </p:spPr>
      </p:pic>
      <p:sp>
        <p:nvSpPr>
          <p:cNvPr id="10" name="TextBox 9"/>
          <p:cNvSpPr txBox="1"/>
          <p:nvPr/>
        </p:nvSpPr>
        <p:spPr>
          <a:xfrm>
            <a:off x="365760" y="5321808"/>
            <a:ext cx="5303520" cy="274320"/>
          </a:xfrm>
          <a:prstGeom prst="rect">
            <a:avLst/>
          </a:prstGeom>
          <a:noFill/>
        </p:spPr>
        <p:txBody>
          <a:bodyPr wrap="square">
            <a:spAutoFit/>
          </a:bodyPr>
          <a:lstStyle/>
          <a:p>
            <a:pPr algn="ctr"/>
            <a:r>
              <a:rPr sz="1000" b="0" i="0">
                <a:solidFill>
                  <a:srgbClr val="78788C"/>
                </a:solidFill>
                <a:latin typeface="Calibri"/>
              </a:rPr>
              <a:t>Landing Page</a:t>
            </a:r>
          </a:p>
        </p:txBody>
      </p:sp>
      <p:sp>
        <p:nvSpPr>
          <p:cNvPr id="11" name="TextBox 10"/>
          <p:cNvSpPr txBox="1"/>
          <p:nvPr/>
        </p:nvSpPr>
        <p:spPr>
          <a:xfrm>
            <a:off x="6126480" y="5321808"/>
            <a:ext cx="5303520" cy="274320"/>
          </a:xfrm>
          <a:prstGeom prst="rect">
            <a:avLst/>
          </a:prstGeom>
          <a:noFill/>
        </p:spPr>
        <p:txBody>
          <a:bodyPr wrap="square">
            <a:spAutoFit/>
          </a:bodyPr>
          <a:lstStyle/>
          <a:p>
            <a:pPr algn="ctr"/>
            <a:r>
              <a:rPr sz="1000" b="0" i="0">
                <a:solidFill>
                  <a:srgbClr val="78788C"/>
                </a:solidFill>
                <a:latin typeface="Calibri"/>
              </a:rPr>
              <a:t>Chat + Live Profile Sidebar</a:t>
            </a:r>
          </a:p>
        </p:txBody>
      </p:sp>
      <p:sp>
        <p:nvSpPr>
          <p:cNvPr id="12" name="Rectangle 11"/>
          <p:cNvSpPr/>
          <p:nvPr/>
        </p:nvSpPr>
        <p:spPr>
          <a:xfrm>
            <a:off x="365760" y="5669280"/>
            <a:ext cx="3749039" cy="5669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5715000"/>
            <a:ext cx="3566160" cy="457200"/>
          </a:xfrm>
          <a:prstGeom prst="rect">
            <a:avLst/>
          </a:prstGeom>
          <a:noFill/>
        </p:spPr>
        <p:txBody>
          <a:bodyPr wrap="square">
            <a:spAutoFit/>
          </a:bodyPr>
          <a:lstStyle/>
          <a:p>
            <a:pPr algn="l"/>
            <a:r>
              <a:rPr sz="1200" b="0" i="0">
                <a:solidFill>
                  <a:srgbClr val="22C55E"/>
                </a:solidFill>
                <a:latin typeface="Calibri"/>
              </a:rPr>
              <a:t>✓  Established the dual-panel layout concept</a:t>
            </a:r>
          </a:p>
        </p:txBody>
      </p:sp>
      <p:sp>
        <p:nvSpPr>
          <p:cNvPr id="14" name="Rectangle 13"/>
          <p:cNvSpPr/>
          <p:nvPr/>
        </p:nvSpPr>
        <p:spPr>
          <a:xfrm>
            <a:off x="4297680" y="5669280"/>
            <a:ext cx="3749039" cy="5669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5715000"/>
            <a:ext cx="3566160" cy="457200"/>
          </a:xfrm>
          <a:prstGeom prst="rect">
            <a:avLst/>
          </a:prstGeom>
          <a:noFill/>
        </p:spPr>
        <p:txBody>
          <a:bodyPr wrap="square">
            <a:spAutoFit/>
          </a:bodyPr>
          <a:lstStyle/>
          <a:p>
            <a:pPr algn="l"/>
            <a:r>
              <a:rPr sz="1200" b="0" i="0">
                <a:solidFill>
                  <a:srgbClr val="22C55E"/>
                </a:solidFill>
                <a:latin typeface="Calibri"/>
              </a:rPr>
              <a:t>✓  Proved conversational framing over forms</a:t>
            </a:r>
          </a:p>
        </p:txBody>
      </p:sp>
      <p:sp>
        <p:nvSpPr>
          <p:cNvPr id="16" name="Rectangle 15"/>
          <p:cNvSpPr/>
          <p:nvPr/>
        </p:nvSpPr>
        <p:spPr>
          <a:xfrm>
            <a:off x="8229600" y="5669280"/>
            <a:ext cx="3749039" cy="56692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5715000"/>
            <a:ext cx="3566160" cy="457200"/>
          </a:xfrm>
          <a:prstGeom prst="rect">
            <a:avLst/>
          </a:prstGeom>
          <a:noFill/>
        </p:spPr>
        <p:txBody>
          <a:bodyPr wrap="square">
            <a:spAutoFit/>
          </a:bodyPr>
          <a:lstStyle/>
          <a:p>
            <a:pPr algn="l"/>
            <a:r>
              <a:rPr sz="1200" b="0" i="0">
                <a:solidFill>
                  <a:srgbClr val="FF6B6B"/>
                </a:solidFill>
                <a:latin typeface="Calibri"/>
              </a:rPr>
              <a:t>✗  Static — no real AI or profile extraction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v0.2 / v0.3 — First Functional Prototype</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PROTOTYPE EVOLUTION  |  March 2026</a:t>
            </a:r>
          </a:p>
        </p:txBody>
      </p:sp>
      <p:sp>
        <p:nvSpPr>
          <p:cNvPr id="5" name="TextBox 4"/>
          <p:cNvSpPr txBox="1"/>
          <p:nvPr/>
        </p:nvSpPr>
        <p:spPr>
          <a:xfrm>
            <a:off x="457200" y="749808"/>
            <a:ext cx="8229600" cy="320040"/>
          </a:xfrm>
          <a:prstGeom prst="rect">
            <a:avLst/>
          </a:prstGeom>
          <a:noFill/>
        </p:spPr>
        <p:txBody>
          <a:bodyPr wrap="square">
            <a:spAutoFit/>
          </a:bodyPr>
          <a:lstStyle/>
          <a:p>
            <a:pPr algn="l"/>
            <a:r>
              <a:rPr sz="1300" b="0" i="1">
                <a:solidFill>
                  <a:srgbClr val="78788C"/>
                </a:solidFill>
                <a:latin typeface="Calibri"/>
              </a:rPr>
              <a:t>Streamlit + GPT-4o-mini — real AI, real profile extraction</a:t>
            </a:r>
          </a:p>
        </p:txBody>
      </p:sp>
      <p:sp>
        <p:nvSpPr>
          <p:cNvPr id="6" name="Rectangle 5"/>
          <p:cNvSpPr/>
          <p:nvPr/>
        </p:nvSpPr>
        <p:spPr>
          <a:xfrm>
            <a:off x="365760" y="1143000"/>
            <a:ext cx="4572000" cy="5349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34440"/>
            <a:ext cx="4206240" cy="384048"/>
          </a:xfrm>
          <a:prstGeom prst="rect">
            <a:avLst/>
          </a:prstGeom>
          <a:noFill/>
        </p:spPr>
        <p:txBody>
          <a:bodyPr wrap="square">
            <a:spAutoFit/>
          </a:bodyPr>
          <a:lstStyle/>
          <a:p>
            <a:pPr algn="l"/>
            <a:r>
              <a:rPr sz="1200" b="1" i="0">
                <a:solidFill>
                  <a:srgbClr val="4ECDC4"/>
                </a:solidFill>
                <a:latin typeface="Calibri"/>
              </a:rPr>
              <a:t>v0.2  —  CORE ENGINE</a:t>
            </a:r>
          </a:p>
        </p:txBody>
      </p:sp>
      <p:sp>
        <p:nvSpPr>
          <p:cNvPr id="8" name="TextBox 7"/>
          <p:cNvSpPr txBox="1"/>
          <p:nvPr/>
        </p:nvSpPr>
        <p:spPr>
          <a:xfrm>
            <a:off x="594360" y="1664208"/>
            <a:ext cx="4206240" cy="2286000"/>
          </a:xfrm>
          <a:prstGeom prst="rect">
            <a:avLst/>
          </a:prstGeom>
          <a:noFill/>
        </p:spPr>
        <p:txBody>
          <a:bodyPr wrap="square">
            <a:spAutoFit/>
          </a:bodyPr>
          <a:lstStyle/>
          <a:p>
            <a:pPr>
              <a:spcBef>
                <a:spcPts val="400"/>
              </a:spcBef>
            </a:pPr>
            <a:r>
              <a:rPr sz="1200">
                <a:solidFill>
                  <a:srgbClr val="C8C8C8"/>
                </a:solidFill>
                <a:latin typeface="Calibri"/>
              </a:rPr>
              <a:t>  •  GPT-4o-mini live with JSON response mode</a:t>
            </a:r>
          </a:p>
          <a:p>
            <a:pPr>
              <a:spcBef>
                <a:spcPts val="400"/>
              </a:spcBef>
            </a:pPr>
            <a:r>
              <a:rPr sz="1200">
                <a:solidFill>
                  <a:srgbClr val="C8C8C8"/>
                </a:solidFill>
                <a:latin typeface="Calibri"/>
              </a:rPr>
              <a:t>  •  Conversational profile extraction</a:t>
            </a:r>
          </a:p>
          <a:p>
            <a:pPr>
              <a:spcBef>
                <a:spcPts val="400"/>
              </a:spcBef>
            </a:pPr>
            <a:r>
              <a:rPr sz="1200">
                <a:solidFill>
                  <a:srgbClr val="C8C8C8"/>
                </a:solidFill>
                <a:latin typeface="Calibri"/>
              </a:rPr>
              <a:t>  •  Confirmation loops on ambiguous answers</a:t>
            </a:r>
          </a:p>
          <a:p>
            <a:pPr>
              <a:spcBef>
                <a:spcPts val="400"/>
              </a:spcBef>
            </a:pPr>
            <a:r>
              <a:rPr sz="1200">
                <a:solidFill>
                  <a:srgbClr val="C8C8C8"/>
                </a:solidFill>
                <a:latin typeface="Calibri"/>
              </a:rPr>
              <a:t>  •  Live sidebar updates in real time</a:t>
            </a:r>
          </a:p>
          <a:p>
            <a:pPr>
              <a:spcBef>
                <a:spcPts val="400"/>
              </a:spcBef>
            </a:pPr>
            <a:r>
              <a:rPr sz="1200">
                <a:solidFill>
                  <a:srgbClr val="C8C8C8"/>
                </a:solidFill>
                <a:latin typeface="Calibri"/>
              </a:rPr>
              <a:t>  •  "Generate My Portfolio" button (human-in-the-loop)</a:t>
            </a:r>
          </a:p>
          <a:p>
            <a:pPr>
              <a:spcBef>
                <a:spcPts val="400"/>
              </a:spcBef>
            </a:pPr>
            <a:r>
              <a:rPr sz="1200">
                <a:solidFill>
                  <a:srgbClr val="C8C8C8"/>
                </a:solidFill>
                <a:latin typeface="Calibri"/>
              </a:rPr>
              <a:t>  •  Rule-based ETF allocation (VTI/VXUS/BND/BNDX)</a:t>
            </a:r>
          </a:p>
        </p:txBody>
      </p:sp>
      <p:sp>
        <p:nvSpPr>
          <p:cNvPr id="9" name="TextBox 8"/>
          <p:cNvSpPr txBox="1"/>
          <p:nvPr/>
        </p:nvSpPr>
        <p:spPr>
          <a:xfrm>
            <a:off x="594360" y="4041648"/>
            <a:ext cx="4206240" cy="384048"/>
          </a:xfrm>
          <a:prstGeom prst="rect">
            <a:avLst/>
          </a:prstGeom>
          <a:noFill/>
        </p:spPr>
        <p:txBody>
          <a:bodyPr wrap="square">
            <a:spAutoFit/>
          </a:bodyPr>
          <a:lstStyle/>
          <a:p>
            <a:pPr algn="l"/>
            <a:r>
              <a:rPr sz="1200" b="1" i="0">
                <a:solidFill>
                  <a:srgbClr val="4ECDC4"/>
                </a:solidFill>
                <a:latin typeface="Calibri"/>
              </a:rPr>
              <a:t>v0.3  —  FULL FEATURE SET</a:t>
            </a:r>
          </a:p>
        </p:txBody>
      </p:sp>
      <p:sp>
        <p:nvSpPr>
          <p:cNvPr id="10" name="TextBox 9"/>
          <p:cNvSpPr txBox="1"/>
          <p:nvPr/>
        </p:nvSpPr>
        <p:spPr>
          <a:xfrm>
            <a:off x="594360" y="4480560"/>
            <a:ext cx="4206240" cy="1828800"/>
          </a:xfrm>
          <a:prstGeom prst="rect">
            <a:avLst/>
          </a:prstGeom>
          <a:noFill/>
        </p:spPr>
        <p:txBody>
          <a:bodyPr wrap="square">
            <a:spAutoFit/>
          </a:bodyPr>
          <a:lstStyle/>
          <a:p>
            <a:pPr>
              <a:spcBef>
                <a:spcPts val="400"/>
              </a:spcBef>
            </a:pPr>
            <a:r>
              <a:rPr sz="1200">
                <a:solidFill>
                  <a:srgbClr val="C8C8C8"/>
                </a:solidFill>
                <a:latin typeface="Calibri"/>
              </a:rPr>
              <a:t>  •  "What is ChatFolio?" onboarding explainer panel</a:t>
            </a:r>
          </a:p>
          <a:p>
            <a:pPr>
              <a:spcBef>
                <a:spcPts val="400"/>
              </a:spcBef>
            </a:pPr>
            <a:r>
              <a:rPr sz="1200">
                <a:solidFill>
                  <a:srgbClr val="C8C8C8"/>
                </a:solidFill>
                <a:latin typeface="Calibri"/>
              </a:rPr>
              <a:t>  •  AI-generated portfolio rationale (plain language)</a:t>
            </a:r>
          </a:p>
          <a:p>
            <a:pPr>
              <a:spcBef>
                <a:spcPts val="400"/>
              </a:spcBef>
            </a:pPr>
            <a:r>
              <a:rPr sz="1200">
                <a:solidFill>
                  <a:srgbClr val="C8C8C8"/>
                </a:solidFill>
                <a:latin typeface="Calibri"/>
              </a:rPr>
              <a:t>  •  Growth projections — 3 scenarios, line chart</a:t>
            </a:r>
          </a:p>
          <a:p>
            <a:pPr>
              <a:spcBef>
                <a:spcPts val="400"/>
              </a:spcBef>
            </a:pPr>
            <a:r>
              <a:rPr sz="1200">
                <a:solidFill>
                  <a:srgbClr val="C8C8C8"/>
                </a:solidFill>
                <a:latin typeface="Calibri"/>
              </a:rPr>
              <a:t>  •  Step-by-step action plan (brokerage, account, ETFs)</a:t>
            </a:r>
          </a:p>
          <a:p>
            <a:pPr>
              <a:spcBef>
                <a:spcPts val="400"/>
              </a:spcBef>
            </a:pPr>
            <a:r>
              <a:rPr sz="1200">
                <a:solidFill>
                  <a:srgbClr val="C8C8C8"/>
                </a:solidFill>
                <a:latin typeface="Calibri"/>
              </a:rPr>
              <a:t>  •  Post-generation edit loop — chat stays active</a:t>
            </a:r>
          </a:p>
          <a:p>
            <a:pPr>
              <a:spcBef>
                <a:spcPts val="400"/>
              </a:spcBef>
            </a:pPr>
            <a:r>
              <a:rPr sz="1200">
                <a:solidFill>
                  <a:srgbClr val="C8C8C8"/>
                </a:solidFill>
                <a:latin typeface="Calibri"/>
              </a:rPr>
              <a:t>  •  Static disclaimer + guardrails in system prompt</a:t>
            </a:r>
          </a:p>
        </p:txBody>
      </p:sp>
      <p:sp>
        <p:nvSpPr>
          <p:cNvPr id="11" name="Rectangle 10"/>
          <p:cNvSpPr/>
          <p:nvPr/>
        </p:nvSpPr>
        <p:spPr>
          <a:xfrm>
            <a:off x="5212080" y="1143000"/>
            <a:ext cx="6583680" cy="53492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0" y="1143000"/>
            <a:ext cx="1554480" cy="5349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85232" y="1207008"/>
            <a:ext cx="1463040" cy="274320"/>
          </a:xfrm>
          <a:prstGeom prst="rect">
            <a:avLst/>
          </a:prstGeom>
          <a:noFill/>
        </p:spPr>
        <p:txBody>
          <a:bodyPr wrap="square">
            <a:spAutoFit/>
          </a:bodyPr>
          <a:lstStyle/>
          <a:p>
            <a:pPr algn="l"/>
            <a:r>
              <a:rPr sz="900" b="1" i="0">
                <a:solidFill>
                  <a:srgbClr val="4ECDC4"/>
                </a:solidFill>
                <a:latin typeface="Calibri"/>
              </a:rPr>
              <a:t>Your Profile</a:t>
            </a:r>
          </a:p>
        </p:txBody>
      </p:sp>
      <p:sp>
        <p:nvSpPr>
          <p:cNvPr id="14" name="Rectangle 13"/>
          <p:cNvSpPr/>
          <p:nvPr/>
        </p:nvSpPr>
        <p:spPr>
          <a:xfrm>
            <a:off x="5285232" y="1554480"/>
            <a:ext cx="1408176" cy="530352"/>
          </a:xfrm>
          <a:prstGeom prst="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0096" y="1572768"/>
            <a:ext cx="1353312" cy="228600"/>
          </a:xfrm>
          <a:prstGeom prst="rect">
            <a:avLst/>
          </a:prstGeom>
          <a:noFill/>
        </p:spPr>
        <p:txBody>
          <a:bodyPr wrap="square">
            <a:spAutoFit/>
          </a:bodyPr>
          <a:lstStyle/>
          <a:p>
            <a:pPr algn="l"/>
            <a:r>
              <a:rPr sz="700" b="0" i="0">
                <a:solidFill>
                  <a:srgbClr val="78788C"/>
                </a:solidFill>
                <a:latin typeface="Calibri"/>
              </a:rPr>
              <a:t>Goal</a:t>
            </a:r>
          </a:p>
        </p:txBody>
      </p:sp>
      <p:sp>
        <p:nvSpPr>
          <p:cNvPr id="16" name="TextBox 15"/>
          <p:cNvSpPr txBox="1"/>
          <p:nvPr/>
        </p:nvSpPr>
        <p:spPr>
          <a:xfrm>
            <a:off x="5340096" y="1792224"/>
            <a:ext cx="1353312" cy="228600"/>
          </a:xfrm>
          <a:prstGeom prst="rect">
            <a:avLst/>
          </a:prstGeom>
          <a:noFill/>
        </p:spPr>
        <p:txBody>
          <a:bodyPr wrap="square">
            <a:spAutoFit/>
          </a:bodyPr>
          <a:lstStyle/>
          <a:p>
            <a:pPr algn="l"/>
            <a:r>
              <a:rPr sz="900" b="1" i="0">
                <a:solidFill>
                  <a:srgbClr val="FFFFFF"/>
                </a:solidFill>
                <a:latin typeface="Calibri"/>
              </a:rPr>
              <a:t>Retirement</a:t>
            </a:r>
          </a:p>
        </p:txBody>
      </p:sp>
      <p:sp>
        <p:nvSpPr>
          <p:cNvPr id="17" name="Rectangle 16"/>
          <p:cNvSpPr/>
          <p:nvPr/>
        </p:nvSpPr>
        <p:spPr>
          <a:xfrm>
            <a:off x="5285232" y="2176272"/>
            <a:ext cx="1408176" cy="530352"/>
          </a:xfrm>
          <a:prstGeom prst="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0096" y="2194560"/>
            <a:ext cx="1353312" cy="228600"/>
          </a:xfrm>
          <a:prstGeom prst="rect">
            <a:avLst/>
          </a:prstGeom>
          <a:noFill/>
        </p:spPr>
        <p:txBody>
          <a:bodyPr wrap="square">
            <a:spAutoFit/>
          </a:bodyPr>
          <a:lstStyle/>
          <a:p>
            <a:pPr algn="l"/>
            <a:r>
              <a:rPr sz="700" b="0" i="0">
                <a:solidFill>
                  <a:srgbClr val="78788C"/>
                </a:solidFill>
                <a:latin typeface="Calibri"/>
              </a:rPr>
              <a:t>Timeline</a:t>
            </a:r>
          </a:p>
        </p:txBody>
      </p:sp>
      <p:sp>
        <p:nvSpPr>
          <p:cNvPr id="19" name="TextBox 18"/>
          <p:cNvSpPr txBox="1"/>
          <p:nvPr/>
        </p:nvSpPr>
        <p:spPr>
          <a:xfrm>
            <a:off x="5340096" y="2414016"/>
            <a:ext cx="1353312" cy="228600"/>
          </a:xfrm>
          <a:prstGeom prst="rect">
            <a:avLst/>
          </a:prstGeom>
          <a:noFill/>
        </p:spPr>
        <p:txBody>
          <a:bodyPr wrap="square">
            <a:spAutoFit/>
          </a:bodyPr>
          <a:lstStyle/>
          <a:p>
            <a:pPr algn="l"/>
            <a:r>
              <a:rPr sz="900" b="1" i="0">
                <a:solidFill>
                  <a:srgbClr val="FFFFFF"/>
                </a:solidFill>
                <a:latin typeface="Calibri"/>
              </a:rPr>
              <a:t>30 years</a:t>
            </a:r>
          </a:p>
        </p:txBody>
      </p:sp>
      <p:sp>
        <p:nvSpPr>
          <p:cNvPr id="20" name="Rectangle 19"/>
          <p:cNvSpPr/>
          <p:nvPr/>
        </p:nvSpPr>
        <p:spPr>
          <a:xfrm>
            <a:off x="5285232" y="2798064"/>
            <a:ext cx="1408176" cy="530352"/>
          </a:xfrm>
          <a:prstGeom prst="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0096" y="2816352"/>
            <a:ext cx="1353312" cy="228600"/>
          </a:xfrm>
          <a:prstGeom prst="rect">
            <a:avLst/>
          </a:prstGeom>
          <a:noFill/>
        </p:spPr>
        <p:txBody>
          <a:bodyPr wrap="square">
            <a:spAutoFit/>
          </a:bodyPr>
          <a:lstStyle/>
          <a:p>
            <a:pPr algn="l"/>
            <a:r>
              <a:rPr sz="700" b="0" i="0">
                <a:solidFill>
                  <a:srgbClr val="78788C"/>
                </a:solidFill>
                <a:latin typeface="Calibri"/>
              </a:rPr>
              <a:t>Budget</a:t>
            </a:r>
          </a:p>
        </p:txBody>
      </p:sp>
      <p:sp>
        <p:nvSpPr>
          <p:cNvPr id="22" name="TextBox 21"/>
          <p:cNvSpPr txBox="1"/>
          <p:nvPr/>
        </p:nvSpPr>
        <p:spPr>
          <a:xfrm>
            <a:off x="5340096" y="3035808"/>
            <a:ext cx="1353312" cy="228600"/>
          </a:xfrm>
          <a:prstGeom prst="rect">
            <a:avLst/>
          </a:prstGeom>
          <a:noFill/>
        </p:spPr>
        <p:txBody>
          <a:bodyPr wrap="square">
            <a:spAutoFit/>
          </a:bodyPr>
          <a:lstStyle/>
          <a:p>
            <a:pPr algn="l"/>
            <a:r>
              <a:rPr sz="900" b="1" i="0">
                <a:solidFill>
                  <a:srgbClr val="FFFFFF"/>
                </a:solidFill>
                <a:latin typeface="Calibri"/>
              </a:rPr>
              <a:t>$150/mo</a:t>
            </a:r>
          </a:p>
        </p:txBody>
      </p:sp>
      <p:sp>
        <p:nvSpPr>
          <p:cNvPr id="23" name="Rectangle 22"/>
          <p:cNvSpPr/>
          <p:nvPr/>
        </p:nvSpPr>
        <p:spPr>
          <a:xfrm>
            <a:off x="5285232" y="3419856"/>
            <a:ext cx="1408176" cy="530352"/>
          </a:xfrm>
          <a:prstGeom prst="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40096" y="3438144"/>
            <a:ext cx="1353312" cy="228600"/>
          </a:xfrm>
          <a:prstGeom prst="rect">
            <a:avLst/>
          </a:prstGeom>
          <a:noFill/>
        </p:spPr>
        <p:txBody>
          <a:bodyPr wrap="square">
            <a:spAutoFit/>
          </a:bodyPr>
          <a:lstStyle/>
          <a:p>
            <a:pPr algn="l"/>
            <a:r>
              <a:rPr sz="700" b="0" i="0">
                <a:solidFill>
                  <a:srgbClr val="78788C"/>
                </a:solidFill>
                <a:latin typeface="Calibri"/>
              </a:rPr>
              <a:t>Risk</a:t>
            </a:r>
          </a:p>
        </p:txBody>
      </p:sp>
      <p:sp>
        <p:nvSpPr>
          <p:cNvPr id="25" name="TextBox 24"/>
          <p:cNvSpPr txBox="1"/>
          <p:nvPr/>
        </p:nvSpPr>
        <p:spPr>
          <a:xfrm>
            <a:off x="5340096" y="3657600"/>
            <a:ext cx="1353312" cy="228600"/>
          </a:xfrm>
          <a:prstGeom prst="rect">
            <a:avLst/>
          </a:prstGeom>
          <a:noFill/>
        </p:spPr>
        <p:txBody>
          <a:bodyPr wrap="square">
            <a:spAutoFit/>
          </a:bodyPr>
          <a:lstStyle/>
          <a:p>
            <a:pPr algn="l"/>
            <a:r>
              <a:rPr sz="900" b="1" i="0">
                <a:solidFill>
                  <a:srgbClr val="FFFFFF"/>
                </a:solidFill>
                <a:latin typeface="Calibri"/>
              </a:rPr>
              <a:t>Moderate</a:t>
            </a:r>
          </a:p>
        </p:txBody>
      </p:sp>
      <p:sp>
        <p:nvSpPr>
          <p:cNvPr id="26" name="Rectangle 25"/>
          <p:cNvSpPr/>
          <p:nvPr/>
        </p:nvSpPr>
        <p:spPr>
          <a:xfrm>
            <a:off x="5285232" y="4041648"/>
            <a:ext cx="1408176" cy="530352"/>
          </a:xfrm>
          <a:prstGeom prst="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40096" y="4059936"/>
            <a:ext cx="1353312" cy="228600"/>
          </a:xfrm>
          <a:prstGeom prst="rect">
            <a:avLst/>
          </a:prstGeom>
          <a:noFill/>
        </p:spPr>
        <p:txBody>
          <a:bodyPr wrap="square">
            <a:spAutoFit/>
          </a:bodyPr>
          <a:lstStyle/>
          <a:p>
            <a:pPr algn="l"/>
            <a:r>
              <a:rPr sz="700" b="0" i="0">
                <a:solidFill>
                  <a:srgbClr val="78788C"/>
                </a:solidFill>
                <a:latin typeface="Calibri"/>
              </a:rPr>
              <a:t>Extra</a:t>
            </a:r>
          </a:p>
        </p:txBody>
      </p:sp>
      <p:sp>
        <p:nvSpPr>
          <p:cNvPr id="28" name="TextBox 27"/>
          <p:cNvSpPr txBox="1"/>
          <p:nvPr/>
        </p:nvSpPr>
        <p:spPr>
          <a:xfrm>
            <a:off x="5340096" y="4279392"/>
            <a:ext cx="1353312" cy="228600"/>
          </a:xfrm>
          <a:prstGeom prst="rect">
            <a:avLst/>
          </a:prstGeom>
          <a:noFill/>
        </p:spPr>
        <p:txBody>
          <a:bodyPr wrap="square">
            <a:spAutoFit/>
          </a:bodyPr>
          <a:lstStyle/>
          <a:p>
            <a:pPr algn="l"/>
            <a:r>
              <a:rPr sz="900" b="1" i="0">
                <a:solidFill>
                  <a:srgbClr val="FFFFFF"/>
                </a:solidFill>
                <a:latin typeface="Calibri"/>
              </a:rPr>
              <a:t>401k noted</a:t>
            </a:r>
          </a:p>
        </p:txBody>
      </p:sp>
      <p:sp>
        <p:nvSpPr>
          <p:cNvPr id="29" name="TextBox 28"/>
          <p:cNvSpPr txBox="1"/>
          <p:nvPr/>
        </p:nvSpPr>
        <p:spPr>
          <a:xfrm>
            <a:off x="5285232" y="4800600"/>
            <a:ext cx="1463040" cy="228600"/>
          </a:xfrm>
          <a:prstGeom prst="rect">
            <a:avLst/>
          </a:prstGeom>
          <a:noFill/>
        </p:spPr>
        <p:txBody>
          <a:bodyPr wrap="square">
            <a:spAutoFit/>
          </a:bodyPr>
          <a:lstStyle/>
          <a:p>
            <a:pPr algn="l"/>
            <a:r>
              <a:rPr sz="800" b="0" i="0">
                <a:solidFill>
                  <a:srgbClr val="22C55E"/>
                </a:solidFill>
                <a:latin typeface="Calibri"/>
              </a:rPr>
              <a:t>Progress  4/4</a:t>
            </a:r>
          </a:p>
        </p:txBody>
      </p:sp>
      <p:sp>
        <p:nvSpPr>
          <p:cNvPr id="30" name="Rectangle 29"/>
          <p:cNvSpPr/>
          <p:nvPr/>
        </p:nvSpPr>
        <p:spPr>
          <a:xfrm>
            <a:off x="5285232" y="5029200"/>
            <a:ext cx="1408176" cy="914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39712" y="1234440"/>
            <a:ext cx="3515685"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12864" y="1289304"/>
            <a:ext cx="3369381" cy="502920"/>
          </a:xfrm>
          <a:prstGeom prst="rect">
            <a:avLst/>
          </a:prstGeom>
          <a:noFill/>
        </p:spPr>
        <p:txBody>
          <a:bodyPr wrap="square">
            <a:spAutoFit/>
          </a:bodyPr>
          <a:lstStyle/>
          <a:p>
            <a:pPr algn="l"/>
            <a:r>
              <a:rPr sz="900" b="0" i="0">
                <a:solidFill>
                  <a:srgbClr val="4ECDC4"/>
                </a:solidFill>
                <a:latin typeface="Calibri"/>
              </a:rPr>
              <a:t>Hi! I'm ChatFolio. What are you investing for?</a:t>
            </a:r>
          </a:p>
        </p:txBody>
      </p:sp>
      <p:sp>
        <p:nvSpPr>
          <p:cNvPr id="33" name="Rectangle 32"/>
          <p:cNvSpPr/>
          <p:nvPr/>
        </p:nvSpPr>
        <p:spPr>
          <a:xfrm>
            <a:off x="8161202" y="1984248"/>
            <a:ext cx="3515685" cy="594360"/>
          </a:xfrm>
          <a:prstGeom prst="rect">
            <a:avLst/>
          </a:prstGeom>
          <a:solidFill>
            <a:srgbClr val="143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4354" y="2039112"/>
            <a:ext cx="3369381" cy="502920"/>
          </a:xfrm>
          <a:prstGeom prst="rect">
            <a:avLst/>
          </a:prstGeom>
          <a:noFill/>
        </p:spPr>
        <p:txBody>
          <a:bodyPr wrap="square">
            <a:spAutoFit/>
          </a:bodyPr>
          <a:lstStyle/>
          <a:p>
            <a:pPr algn="l"/>
            <a:r>
              <a:rPr sz="900" b="0" i="0">
                <a:solidFill>
                  <a:srgbClr val="FFFFFF"/>
                </a:solidFill>
                <a:latin typeface="Calibri"/>
              </a:rPr>
              <a:t>Saving for retirement, about 30 years out</a:t>
            </a:r>
          </a:p>
        </p:txBody>
      </p:sp>
      <p:sp>
        <p:nvSpPr>
          <p:cNvPr id="35" name="Rectangle 34"/>
          <p:cNvSpPr/>
          <p:nvPr/>
        </p:nvSpPr>
        <p:spPr>
          <a:xfrm>
            <a:off x="6839712" y="2734056"/>
            <a:ext cx="3515685"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12864" y="2788920"/>
            <a:ext cx="3369381" cy="502920"/>
          </a:xfrm>
          <a:prstGeom prst="rect">
            <a:avLst/>
          </a:prstGeom>
          <a:noFill/>
        </p:spPr>
        <p:txBody>
          <a:bodyPr wrap="square">
            <a:spAutoFit/>
          </a:bodyPr>
          <a:lstStyle/>
          <a:p>
            <a:pPr algn="l"/>
            <a:r>
              <a:rPr sz="900" b="0" i="0">
                <a:solidFill>
                  <a:srgbClr val="4ECDC4"/>
                </a:solidFill>
                <a:latin typeface="Calibri"/>
              </a:rPr>
              <a:t>Great! How much can you invest each month?</a:t>
            </a:r>
          </a:p>
        </p:txBody>
      </p:sp>
      <p:sp>
        <p:nvSpPr>
          <p:cNvPr id="37" name="Rectangle 36"/>
          <p:cNvSpPr/>
          <p:nvPr/>
        </p:nvSpPr>
        <p:spPr>
          <a:xfrm>
            <a:off x="8161202" y="3483864"/>
            <a:ext cx="3515685" cy="594360"/>
          </a:xfrm>
          <a:prstGeom prst="rect">
            <a:avLst/>
          </a:prstGeom>
          <a:solidFill>
            <a:srgbClr val="143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34354" y="3538728"/>
            <a:ext cx="3369381" cy="502920"/>
          </a:xfrm>
          <a:prstGeom prst="rect">
            <a:avLst/>
          </a:prstGeom>
          <a:noFill/>
        </p:spPr>
        <p:txBody>
          <a:bodyPr wrap="square">
            <a:spAutoFit/>
          </a:bodyPr>
          <a:lstStyle/>
          <a:p>
            <a:pPr algn="l"/>
            <a:r>
              <a:rPr sz="900" b="0" i="0">
                <a:solidFill>
                  <a:srgbClr val="FFFFFF"/>
                </a:solidFill>
                <a:latin typeface="Calibri"/>
              </a:rPr>
              <a:t>Around $150</a:t>
            </a:r>
          </a:p>
        </p:txBody>
      </p:sp>
      <p:sp>
        <p:nvSpPr>
          <p:cNvPr id="39" name="Rectangle 38"/>
          <p:cNvSpPr/>
          <p:nvPr/>
        </p:nvSpPr>
        <p:spPr>
          <a:xfrm>
            <a:off x="6839712" y="5029200"/>
            <a:ext cx="4837176" cy="38404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39712" y="5029200"/>
            <a:ext cx="4837176" cy="384048"/>
          </a:xfrm>
          <a:prstGeom prst="rect">
            <a:avLst/>
          </a:prstGeom>
          <a:noFill/>
        </p:spPr>
        <p:txBody>
          <a:bodyPr wrap="square">
            <a:spAutoFit/>
          </a:bodyPr>
          <a:lstStyle/>
          <a:p>
            <a:pPr algn="ctr"/>
            <a:r>
              <a:rPr sz="1000" b="1" i="0">
                <a:solidFill>
                  <a:srgbClr val="1A1A2E"/>
                </a:solidFill>
                <a:latin typeface="Calibri"/>
              </a:rPr>
              <a:t>Generate My Portfolio  →</a:t>
            </a:r>
          </a:p>
        </p:txBody>
      </p:sp>
      <p:sp>
        <p:nvSpPr>
          <p:cNvPr id="41" name="Rectangle 40"/>
          <p:cNvSpPr/>
          <p:nvPr/>
        </p:nvSpPr>
        <p:spPr>
          <a:xfrm>
            <a:off x="6839712" y="5486400"/>
            <a:ext cx="4837176" cy="320040"/>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12864" y="5504688"/>
            <a:ext cx="4654296" cy="274320"/>
          </a:xfrm>
          <a:prstGeom prst="rect">
            <a:avLst/>
          </a:prstGeom>
          <a:noFill/>
        </p:spPr>
        <p:txBody>
          <a:bodyPr wrap="square">
            <a:spAutoFit/>
          </a:bodyPr>
          <a:lstStyle/>
          <a:p>
            <a:pPr algn="l"/>
            <a:r>
              <a:rPr sz="900" b="0" i="1">
                <a:solidFill>
                  <a:srgbClr val="78788C"/>
                </a:solidFill>
                <a:latin typeface="Calibri"/>
              </a:rPr>
              <a:t>Type your message...</a:t>
            </a:r>
          </a:p>
        </p:txBody>
      </p:sp>
      <p:sp>
        <p:nvSpPr>
          <p:cNvPr id="43" name="TextBox 42"/>
          <p:cNvSpPr txBox="1"/>
          <p:nvPr/>
        </p:nvSpPr>
        <p:spPr>
          <a:xfrm>
            <a:off x="5212080" y="6537960"/>
            <a:ext cx="6583680" cy="256032"/>
          </a:xfrm>
          <a:prstGeom prst="rect">
            <a:avLst/>
          </a:prstGeom>
          <a:noFill/>
        </p:spPr>
        <p:txBody>
          <a:bodyPr wrap="square">
            <a:spAutoFit/>
          </a:bodyPr>
          <a:lstStyle/>
          <a:p>
            <a:pPr algn="ctr"/>
            <a:r>
              <a:rPr sz="800" b="0" i="1">
                <a:solidFill>
                  <a:srgbClr val="78788C"/>
                </a:solidFill>
                <a:latin typeface="Calibri"/>
              </a:rPr>
              <a:t>Wireframe — Streamlit dark theme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v0.4 / v0.5 — Post-Evaluation Polish</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PROTOTYPE EVOLUTION  |  April 2026</a:t>
            </a:r>
          </a:p>
        </p:txBody>
      </p:sp>
      <p:sp>
        <p:nvSpPr>
          <p:cNvPr id="5" name="TextBox 4"/>
          <p:cNvSpPr txBox="1"/>
          <p:nvPr/>
        </p:nvSpPr>
        <p:spPr>
          <a:xfrm>
            <a:off x="457200" y="749808"/>
            <a:ext cx="8229600" cy="320040"/>
          </a:xfrm>
          <a:prstGeom prst="rect">
            <a:avLst/>
          </a:prstGeom>
          <a:noFill/>
        </p:spPr>
        <p:txBody>
          <a:bodyPr wrap="square">
            <a:spAutoFit/>
          </a:bodyPr>
          <a:lstStyle/>
          <a:p>
            <a:pPr algn="l"/>
            <a:r>
              <a:rPr sz="1300" b="0" i="1">
                <a:solidFill>
                  <a:srgbClr val="78788C"/>
                </a:solidFill>
                <a:latin typeface="Calibri"/>
              </a:rPr>
              <a:t>Prompt refinements + UX improvements driven by user testing</a:t>
            </a:r>
          </a:p>
        </p:txBody>
      </p:sp>
      <p:sp>
        <p:nvSpPr>
          <p:cNvPr id="6" name="Rectangle 5"/>
          <p:cNvSpPr/>
          <p:nvPr/>
        </p:nvSpPr>
        <p:spPr>
          <a:xfrm>
            <a:off x="365760" y="1143000"/>
            <a:ext cx="4937760" cy="5349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34440"/>
            <a:ext cx="4572000" cy="365760"/>
          </a:xfrm>
          <a:prstGeom prst="rect">
            <a:avLst/>
          </a:prstGeom>
          <a:noFill/>
        </p:spPr>
        <p:txBody>
          <a:bodyPr wrap="square">
            <a:spAutoFit/>
          </a:bodyPr>
          <a:lstStyle/>
          <a:p>
            <a:pPr algn="l"/>
            <a:r>
              <a:rPr sz="1200" b="1" i="0">
                <a:solidFill>
                  <a:srgbClr val="4ECDC4"/>
                </a:solidFill>
                <a:latin typeface="Calibri"/>
              </a:rPr>
              <a:t>PROMPT CHANGES (v0.4)</a:t>
            </a:r>
          </a:p>
        </p:txBody>
      </p:sp>
      <p:sp>
        <p:nvSpPr>
          <p:cNvPr id="8" name="Rectangle 7"/>
          <p:cNvSpPr/>
          <p:nvPr/>
        </p:nvSpPr>
        <p:spPr>
          <a:xfrm>
            <a:off x="594360" y="1691640"/>
            <a:ext cx="320040" cy="3200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691640"/>
            <a:ext cx="320040" cy="320040"/>
          </a:xfrm>
          <a:prstGeom prst="rect">
            <a:avLst/>
          </a:prstGeom>
          <a:noFill/>
        </p:spPr>
        <p:txBody>
          <a:bodyPr wrap="square">
            <a:spAutoFit/>
          </a:bodyPr>
          <a:lstStyle/>
          <a:p>
            <a:pPr algn="ctr"/>
            <a:r>
              <a:rPr sz="1100" b="1" i="0">
                <a:solidFill>
                  <a:srgbClr val="1A1A2E"/>
                </a:solidFill>
                <a:latin typeface="Calibri"/>
              </a:rPr>
              <a:t>1</a:t>
            </a:r>
          </a:p>
        </p:txBody>
      </p:sp>
      <p:sp>
        <p:nvSpPr>
          <p:cNvPr id="10" name="TextBox 9"/>
          <p:cNvSpPr txBox="1"/>
          <p:nvPr/>
        </p:nvSpPr>
        <p:spPr>
          <a:xfrm>
            <a:off x="1005840" y="1691640"/>
            <a:ext cx="4114800" cy="457200"/>
          </a:xfrm>
          <a:prstGeom prst="rect">
            <a:avLst/>
          </a:prstGeom>
          <a:noFill/>
        </p:spPr>
        <p:txBody>
          <a:bodyPr wrap="square">
            <a:spAutoFit/>
          </a:bodyPr>
          <a:lstStyle/>
          <a:p>
            <a:pPr algn="l"/>
            <a:r>
              <a:rPr sz="1100" b="0" i="0">
                <a:solidFill>
                  <a:srgbClr val="C8C8C8"/>
                </a:solidFill>
                <a:latin typeface="Calibri"/>
              </a:rPr>
              <a:t>One-field confirmation loop — paraphrase + confirm before saving</a:t>
            </a:r>
          </a:p>
        </p:txBody>
      </p:sp>
      <p:sp>
        <p:nvSpPr>
          <p:cNvPr id="11" name="Rectangle 10"/>
          <p:cNvSpPr/>
          <p:nvPr/>
        </p:nvSpPr>
        <p:spPr>
          <a:xfrm>
            <a:off x="594360" y="2331720"/>
            <a:ext cx="320040" cy="3200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31720"/>
            <a:ext cx="320040" cy="320040"/>
          </a:xfrm>
          <a:prstGeom prst="rect">
            <a:avLst/>
          </a:prstGeom>
          <a:noFill/>
        </p:spPr>
        <p:txBody>
          <a:bodyPr wrap="square">
            <a:spAutoFit/>
          </a:bodyPr>
          <a:lstStyle/>
          <a:p>
            <a:pPr algn="ctr"/>
            <a:r>
              <a:rPr sz="1100" b="1" i="0">
                <a:solidFill>
                  <a:srgbClr val="1A1A2E"/>
                </a:solidFill>
                <a:latin typeface="Calibri"/>
              </a:rPr>
              <a:t>2</a:t>
            </a:r>
          </a:p>
        </p:txBody>
      </p:sp>
      <p:sp>
        <p:nvSpPr>
          <p:cNvPr id="13" name="TextBox 12"/>
          <p:cNvSpPr txBox="1"/>
          <p:nvPr/>
        </p:nvSpPr>
        <p:spPr>
          <a:xfrm>
            <a:off x="1005840" y="2331720"/>
            <a:ext cx="4114800" cy="457200"/>
          </a:xfrm>
          <a:prstGeom prst="rect">
            <a:avLst/>
          </a:prstGeom>
          <a:noFill/>
        </p:spPr>
        <p:txBody>
          <a:bodyPr wrap="square">
            <a:spAutoFit/>
          </a:bodyPr>
          <a:lstStyle/>
          <a:p>
            <a:pPr algn="l"/>
            <a:r>
              <a:rPr sz="1100" b="0" i="0">
                <a:solidFill>
                  <a:srgbClr val="C8C8C8"/>
                </a:solidFill>
                <a:latin typeface="Calibri"/>
              </a:rPr>
              <a:t>Edge case handling: variable budget, $0 budget, short timeline</a:t>
            </a:r>
          </a:p>
        </p:txBody>
      </p:sp>
      <p:sp>
        <p:nvSpPr>
          <p:cNvPr id="14" name="Rectangle 13"/>
          <p:cNvSpPr/>
          <p:nvPr/>
        </p:nvSpPr>
        <p:spPr>
          <a:xfrm>
            <a:off x="594360" y="2971800"/>
            <a:ext cx="320040" cy="3200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971800"/>
            <a:ext cx="320040" cy="320040"/>
          </a:xfrm>
          <a:prstGeom prst="rect">
            <a:avLst/>
          </a:prstGeom>
          <a:noFill/>
        </p:spPr>
        <p:txBody>
          <a:bodyPr wrap="square">
            <a:spAutoFit/>
          </a:bodyPr>
          <a:lstStyle/>
          <a:p>
            <a:pPr algn="ctr"/>
            <a:r>
              <a:rPr sz="1100" b="1" i="0">
                <a:solidFill>
                  <a:srgbClr val="1A1A2E"/>
                </a:solidFill>
                <a:latin typeface="Calibri"/>
              </a:rPr>
              <a:t>3</a:t>
            </a:r>
          </a:p>
        </p:txBody>
      </p:sp>
      <p:sp>
        <p:nvSpPr>
          <p:cNvPr id="16" name="TextBox 15"/>
          <p:cNvSpPr txBox="1"/>
          <p:nvPr/>
        </p:nvSpPr>
        <p:spPr>
          <a:xfrm>
            <a:off x="1005840" y="2971800"/>
            <a:ext cx="4114800" cy="457200"/>
          </a:xfrm>
          <a:prstGeom prst="rect">
            <a:avLst/>
          </a:prstGeom>
          <a:noFill/>
        </p:spPr>
        <p:txBody>
          <a:bodyPr wrap="square">
            <a:spAutoFit/>
          </a:bodyPr>
          <a:lstStyle/>
          <a:p>
            <a:pPr algn="l"/>
            <a:r>
              <a:rPr sz="1100" b="0" i="0">
                <a:solidFill>
                  <a:srgbClr val="C8C8C8"/>
                </a:solidFill>
                <a:latin typeface="Calibri"/>
              </a:rPr>
              <a:t>Post-gen behavioral split: adjust profile vs. answer questions</a:t>
            </a:r>
          </a:p>
        </p:txBody>
      </p:sp>
      <p:sp>
        <p:nvSpPr>
          <p:cNvPr id="17" name="Rectangle 16"/>
          <p:cNvSpPr/>
          <p:nvPr/>
        </p:nvSpPr>
        <p:spPr>
          <a:xfrm>
            <a:off x="594360" y="3611880"/>
            <a:ext cx="320040" cy="3200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611880"/>
            <a:ext cx="320040" cy="320040"/>
          </a:xfrm>
          <a:prstGeom prst="rect">
            <a:avLst/>
          </a:prstGeom>
          <a:noFill/>
        </p:spPr>
        <p:txBody>
          <a:bodyPr wrap="square">
            <a:spAutoFit/>
          </a:bodyPr>
          <a:lstStyle/>
          <a:p>
            <a:pPr algn="ctr"/>
            <a:r>
              <a:rPr sz="1100" b="1" i="0">
                <a:solidFill>
                  <a:srgbClr val="1A1A2E"/>
                </a:solidFill>
                <a:latin typeface="Calibri"/>
              </a:rPr>
              <a:t>4</a:t>
            </a:r>
          </a:p>
        </p:txBody>
      </p:sp>
      <p:sp>
        <p:nvSpPr>
          <p:cNvPr id="19" name="TextBox 18"/>
          <p:cNvSpPr txBox="1"/>
          <p:nvPr/>
        </p:nvSpPr>
        <p:spPr>
          <a:xfrm>
            <a:off x="1005840" y="3611880"/>
            <a:ext cx="4114800" cy="457200"/>
          </a:xfrm>
          <a:prstGeom prst="rect">
            <a:avLst/>
          </a:prstGeom>
          <a:noFill/>
        </p:spPr>
        <p:txBody>
          <a:bodyPr wrap="square">
            <a:spAutoFit/>
          </a:bodyPr>
          <a:lstStyle/>
          <a:p>
            <a:pPr algn="l"/>
            <a:r>
              <a:rPr sz="1100" b="0" i="0">
                <a:solidFill>
                  <a:srgbClr val="C8C8C8"/>
                </a:solidFill>
                <a:latin typeface="Calibri"/>
              </a:rPr>
              <a:t>Proactive contextual question after 4 required fields</a:t>
            </a:r>
          </a:p>
        </p:txBody>
      </p:sp>
      <p:sp>
        <p:nvSpPr>
          <p:cNvPr id="20" name="Rectangle 19"/>
          <p:cNvSpPr/>
          <p:nvPr/>
        </p:nvSpPr>
        <p:spPr>
          <a:xfrm>
            <a:off x="594360" y="4251960"/>
            <a:ext cx="320040" cy="3200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4251960"/>
            <a:ext cx="320040" cy="320040"/>
          </a:xfrm>
          <a:prstGeom prst="rect">
            <a:avLst/>
          </a:prstGeom>
          <a:noFill/>
        </p:spPr>
        <p:txBody>
          <a:bodyPr wrap="square">
            <a:spAutoFit/>
          </a:bodyPr>
          <a:lstStyle/>
          <a:p>
            <a:pPr algn="ctr"/>
            <a:r>
              <a:rPr sz="1100" b="1" i="0">
                <a:solidFill>
                  <a:srgbClr val="1A1A2E"/>
                </a:solidFill>
                <a:latin typeface="Calibri"/>
              </a:rPr>
              <a:t>5</a:t>
            </a:r>
          </a:p>
        </p:txBody>
      </p:sp>
      <p:sp>
        <p:nvSpPr>
          <p:cNvPr id="22" name="TextBox 21"/>
          <p:cNvSpPr txBox="1"/>
          <p:nvPr/>
        </p:nvSpPr>
        <p:spPr>
          <a:xfrm>
            <a:off x="1005840" y="4251960"/>
            <a:ext cx="4114800" cy="457200"/>
          </a:xfrm>
          <a:prstGeom prst="rect">
            <a:avLst/>
          </a:prstGeom>
          <a:noFill/>
        </p:spPr>
        <p:txBody>
          <a:bodyPr wrap="square">
            <a:spAutoFit/>
          </a:bodyPr>
          <a:lstStyle/>
          <a:p>
            <a:pPr algn="l"/>
            <a:r>
              <a:rPr sz="1100" b="0" i="0">
                <a:solidFill>
                  <a:srgbClr val="C8C8C8"/>
                </a:solidFill>
                <a:latin typeface="Calibri"/>
              </a:rPr>
              <a:t>Plain-language risk descriptions required — no numeric confidence</a:t>
            </a:r>
          </a:p>
        </p:txBody>
      </p:sp>
      <p:sp>
        <p:nvSpPr>
          <p:cNvPr id="23" name="TextBox 22"/>
          <p:cNvSpPr txBox="1"/>
          <p:nvPr/>
        </p:nvSpPr>
        <p:spPr>
          <a:xfrm>
            <a:off x="594360" y="4937760"/>
            <a:ext cx="4572000" cy="365760"/>
          </a:xfrm>
          <a:prstGeom prst="rect">
            <a:avLst/>
          </a:prstGeom>
          <a:noFill/>
        </p:spPr>
        <p:txBody>
          <a:bodyPr wrap="square">
            <a:spAutoFit/>
          </a:bodyPr>
          <a:lstStyle/>
          <a:p>
            <a:pPr algn="l"/>
            <a:r>
              <a:rPr sz="1200" b="1" i="0">
                <a:solidFill>
                  <a:srgbClr val="4ECDC4"/>
                </a:solidFill>
                <a:latin typeface="Calibri"/>
              </a:rPr>
              <a:t>UX CHANGES (v0.5)</a:t>
            </a:r>
          </a:p>
        </p:txBody>
      </p:sp>
      <p:sp>
        <p:nvSpPr>
          <p:cNvPr id="24" name="TextBox 23"/>
          <p:cNvSpPr txBox="1"/>
          <p:nvPr/>
        </p:nvSpPr>
        <p:spPr>
          <a:xfrm>
            <a:off x="594360" y="5349240"/>
            <a:ext cx="4572000" cy="1005840"/>
          </a:xfrm>
          <a:prstGeom prst="rect">
            <a:avLst/>
          </a:prstGeom>
          <a:noFill/>
        </p:spPr>
        <p:txBody>
          <a:bodyPr wrap="square">
            <a:spAutoFit/>
          </a:bodyPr>
          <a:lstStyle/>
          <a:p>
            <a:pPr>
              <a:spcBef>
                <a:spcPts val="400"/>
              </a:spcBef>
            </a:pPr>
            <a:r>
              <a:rPr sz="1100">
                <a:solidFill>
                  <a:srgbClr val="C8C8C8"/>
                </a:solidFill>
                <a:latin typeface="Calibri"/>
              </a:rPr>
              <a:t>  •  Split view: chat and portfolio scroll independently</a:t>
            </a:r>
          </a:p>
          <a:p>
            <a:pPr>
              <a:spcBef>
                <a:spcPts val="400"/>
              </a:spcBef>
            </a:pPr>
            <a:r>
              <a:rPr sz="1100">
                <a:solidFill>
                  <a:srgbClr val="C8C8C8"/>
                </a:solidFill>
                <a:latin typeface="Calibri"/>
              </a:rPr>
              <a:t>  •  Spinner + success toast on portfolio regeneration</a:t>
            </a:r>
          </a:p>
          <a:p>
            <a:pPr>
              <a:spcBef>
                <a:spcPts val="400"/>
              </a:spcBef>
            </a:pPr>
            <a:r>
              <a:rPr sz="1100">
                <a:solidFill>
                  <a:srgbClr val="C8C8C8"/>
                </a:solidFill>
                <a:latin typeface="Calibri"/>
              </a:rPr>
              <a:t>  •  Prominent follow-up guidance banner after generation</a:t>
            </a:r>
          </a:p>
        </p:txBody>
      </p:sp>
      <p:sp>
        <p:nvSpPr>
          <p:cNvPr id="25" name="Rectangle 24"/>
          <p:cNvSpPr/>
          <p:nvPr/>
        </p:nvSpPr>
        <p:spPr>
          <a:xfrm>
            <a:off x="5532120" y="1143000"/>
            <a:ext cx="6263640" cy="53492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32120" y="1143000"/>
            <a:ext cx="2505456" cy="5349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23560" y="1207008"/>
            <a:ext cx="2322576" cy="274320"/>
          </a:xfrm>
          <a:prstGeom prst="rect">
            <a:avLst/>
          </a:prstGeom>
          <a:noFill/>
        </p:spPr>
        <p:txBody>
          <a:bodyPr wrap="square">
            <a:spAutoFit/>
          </a:bodyPr>
          <a:lstStyle/>
          <a:p>
            <a:pPr algn="l"/>
            <a:r>
              <a:rPr sz="900" b="1" i="0">
                <a:solidFill>
                  <a:srgbClr val="4ECDC4"/>
                </a:solidFill>
                <a:latin typeface="Calibri"/>
              </a:rPr>
              <a:t>Chat</a:t>
            </a:r>
          </a:p>
        </p:txBody>
      </p:sp>
      <p:sp>
        <p:nvSpPr>
          <p:cNvPr id="28" name="Rectangle 27"/>
          <p:cNvSpPr/>
          <p:nvPr/>
        </p:nvSpPr>
        <p:spPr>
          <a:xfrm>
            <a:off x="5605272" y="1572768"/>
            <a:ext cx="2359152" cy="530352"/>
          </a:xfrm>
          <a:prstGeom prst="rect">
            <a:avLst/>
          </a:prstGeom>
          <a:solidFill>
            <a:srgbClr val="14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0136" y="1627632"/>
            <a:ext cx="2249424" cy="420624"/>
          </a:xfrm>
          <a:prstGeom prst="rect">
            <a:avLst/>
          </a:prstGeom>
          <a:noFill/>
        </p:spPr>
        <p:txBody>
          <a:bodyPr wrap="square">
            <a:spAutoFit/>
          </a:bodyPr>
          <a:lstStyle/>
          <a:p>
            <a:pPr algn="l"/>
            <a:r>
              <a:rPr sz="800" b="0" i="0">
                <a:solidFill>
                  <a:srgbClr val="4ECDC4"/>
                </a:solidFill>
                <a:latin typeface="Calibri"/>
              </a:rPr>
              <a:t>Portfolio generated!</a:t>
            </a:r>
          </a:p>
        </p:txBody>
      </p:sp>
      <p:sp>
        <p:nvSpPr>
          <p:cNvPr id="30" name="Rectangle 29"/>
          <p:cNvSpPr/>
          <p:nvPr/>
        </p:nvSpPr>
        <p:spPr>
          <a:xfrm>
            <a:off x="5605272" y="2231136"/>
            <a:ext cx="2359152" cy="530352"/>
          </a:xfrm>
          <a:prstGeom prst="rect">
            <a:avLst/>
          </a:prstGeom>
          <a:solidFill>
            <a:srgbClr val="143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0136" y="2286000"/>
            <a:ext cx="2249424" cy="420624"/>
          </a:xfrm>
          <a:prstGeom prst="rect">
            <a:avLst/>
          </a:prstGeom>
          <a:noFill/>
        </p:spPr>
        <p:txBody>
          <a:bodyPr wrap="square">
            <a:spAutoFit/>
          </a:bodyPr>
          <a:lstStyle/>
          <a:p>
            <a:pPr algn="l"/>
            <a:r>
              <a:rPr sz="800" b="0" i="0">
                <a:solidFill>
                  <a:srgbClr val="FFFFFF"/>
                </a:solidFill>
                <a:latin typeface="Calibri"/>
              </a:rPr>
              <a:t>Make it more aggressive</a:t>
            </a:r>
          </a:p>
        </p:txBody>
      </p:sp>
      <p:sp>
        <p:nvSpPr>
          <p:cNvPr id="32" name="Rectangle 31"/>
          <p:cNvSpPr/>
          <p:nvPr/>
        </p:nvSpPr>
        <p:spPr>
          <a:xfrm>
            <a:off x="5605272" y="2889504"/>
            <a:ext cx="2359152" cy="530352"/>
          </a:xfrm>
          <a:prstGeom prst="rect">
            <a:avLst/>
          </a:prstGeom>
          <a:solidFill>
            <a:srgbClr val="14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0136" y="2944368"/>
            <a:ext cx="2249424" cy="420624"/>
          </a:xfrm>
          <a:prstGeom prst="rect">
            <a:avLst/>
          </a:prstGeom>
          <a:noFill/>
        </p:spPr>
        <p:txBody>
          <a:bodyPr wrap="square">
            <a:spAutoFit/>
          </a:bodyPr>
          <a:lstStyle/>
          <a:p>
            <a:pPr algn="l"/>
            <a:r>
              <a:rPr sz="800" b="0" i="0">
                <a:solidFill>
                  <a:srgbClr val="4ECDC4"/>
                </a:solidFill>
                <a:latin typeface="Calibri"/>
              </a:rPr>
              <a:t>Updated to Aggressive. Regenerating...</a:t>
            </a:r>
          </a:p>
        </p:txBody>
      </p:sp>
      <p:sp>
        <p:nvSpPr>
          <p:cNvPr id="34" name="Rectangle 33"/>
          <p:cNvSpPr/>
          <p:nvPr/>
        </p:nvSpPr>
        <p:spPr>
          <a:xfrm>
            <a:off x="5532120" y="5376672"/>
            <a:ext cx="2505456" cy="457200"/>
          </a:xfrm>
          <a:prstGeom prst="rect">
            <a:avLst/>
          </a:prstGeom>
          <a:solidFill>
            <a:srgbClr val="0A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05272" y="5394960"/>
            <a:ext cx="2414016" cy="411480"/>
          </a:xfrm>
          <a:prstGeom prst="rect">
            <a:avLst/>
          </a:prstGeom>
          <a:noFill/>
        </p:spPr>
        <p:txBody>
          <a:bodyPr wrap="square">
            <a:spAutoFit/>
          </a:bodyPr>
          <a:lstStyle/>
          <a:p>
            <a:pPr algn="l"/>
            <a:r>
              <a:rPr sz="700" b="0" i="0">
                <a:solidFill>
                  <a:srgbClr val="4ECDC4"/>
                </a:solidFill>
                <a:latin typeface="Calibri"/>
              </a:rPr>
              <a:t>💡 Try: "make it more aggressive" or "what is VTI?"</a:t>
            </a:r>
          </a:p>
        </p:txBody>
      </p:sp>
      <p:sp>
        <p:nvSpPr>
          <p:cNvPr id="36" name="Rectangle 35"/>
          <p:cNvSpPr/>
          <p:nvPr/>
        </p:nvSpPr>
        <p:spPr>
          <a:xfrm>
            <a:off x="8083296" y="1143000"/>
            <a:ext cx="3712464" cy="5349240"/>
          </a:xfrm>
          <a:prstGeom prst="rect">
            <a:avLst/>
          </a:prstGeom>
          <a:solidFill>
            <a:srgbClr val="0F1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74736" y="1234440"/>
            <a:ext cx="3712464" cy="274320"/>
          </a:xfrm>
          <a:prstGeom prst="rect">
            <a:avLst/>
          </a:prstGeom>
          <a:noFill/>
        </p:spPr>
        <p:txBody>
          <a:bodyPr wrap="square">
            <a:spAutoFit/>
          </a:bodyPr>
          <a:lstStyle/>
          <a:p>
            <a:pPr algn="l"/>
            <a:r>
              <a:rPr sz="800" b="1" i="0">
                <a:solidFill>
                  <a:srgbClr val="78788C"/>
                </a:solidFill>
                <a:latin typeface="Calibri"/>
              </a:rPr>
              <a:t>ALLOCATION</a:t>
            </a:r>
          </a:p>
        </p:txBody>
      </p:sp>
      <p:sp>
        <p:nvSpPr>
          <p:cNvPr id="38" name="TextBox 37"/>
          <p:cNvSpPr txBox="1"/>
          <p:nvPr/>
        </p:nvSpPr>
        <p:spPr>
          <a:xfrm>
            <a:off x="8174736" y="1572768"/>
            <a:ext cx="457200" cy="228600"/>
          </a:xfrm>
          <a:prstGeom prst="rect">
            <a:avLst/>
          </a:prstGeom>
          <a:noFill/>
        </p:spPr>
        <p:txBody>
          <a:bodyPr wrap="square">
            <a:spAutoFit/>
          </a:bodyPr>
          <a:lstStyle/>
          <a:p>
            <a:pPr algn="l"/>
            <a:r>
              <a:rPr sz="800" b="1" i="0">
                <a:solidFill>
                  <a:srgbClr val="4ECDC4"/>
                </a:solidFill>
                <a:latin typeface="Calibri"/>
              </a:rPr>
              <a:t>VTI</a:t>
            </a:r>
          </a:p>
        </p:txBody>
      </p:sp>
      <p:sp>
        <p:nvSpPr>
          <p:cNvPr id="39" name="Rectangle 38"/>
          <p:cNvSpPr/>
          <p:nvPr/>
        </p:nvSpPr>
        <p:spPr>
          <a:xfrm>
            <a:off x="8174736" y="1819656"/>
            <a:ext cx="2258933" cy="164592"/>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79389" y="1819656"/>
            <a:ext cx="365760" cy="182880"/>
          </a:xfrm>
          <a:prstGeom prst="rect">
            <a:avLst/>
          </a:prstGeom>
          <a:noFill/>
        </p:spPr>
        <p:txBody>
          <a:bodyPr wrap="square">
            <a:spAutoFit/>
          </a:bodyPr>
          <a:lstStyle/>
          <a:p>
            <a:pPr algn="l"/>
            <a:r>
              <a:rPr sz="700" b="0" i="0">
                <a:solidFill>
                  <a:srgbClr val="C8C8C8"/>
                </a:solidFill>
                <a:latin typeface="Calibri"/>
              </a:rPr>
              <a:t>64%</a:t>
            </a:r>
          </a:p>
        </p:txBody>
      </p:sp>
      <p:sp>
        <p:nvSpPr>
          <p:cNvPr id="41" name="TextBox 40"/>
          <p:cNvSpPr txBox="1"/>
          <p:nvPr/>
        </p:nvSpPr>
        <p:spPr>
          <a:xfrm>
            <a:off x="8174736" y="2048256"/>
            <a:ext cx="457200" cy="228600"/>
          </a:xfrm>
          <a:prstGeom prst="rect">
            <a:avLst/>
          </a:prstGeom>
          <a:noFill/>
        </p:spPr>
        <p:txBody>
          <a:bodyPr wrap="square">
            <a:spAutoFit/>
          </a:bodyPr>
          <a:lstStyle/>
          <a:p>
            <a:pPr algn="l"/>
            <a:r>
              <a:rPr sz="800" b="1" i="0">
                <a:solidFill>
                  <a:srgbClr val="22C55E"/>
                </a:solidFill>
                <a:latin typeface="Calibri"/>
              </a:rPr>
              <a:t>VXUS</a:t>
            </a:r>
          </a:p>
        </p:txBody>
      </p:sp>
      <p:sp>
        <p:nvSpPr>
          <p:cNvPr id="42" name="Rectangle 41"/>
          <p:cNvSpPr/>
          <p:nvPr/>
        </p:nvSpPr>
        <p:spPr>
          <a:xfrm>
            <a:off x="8174736" y="2295144"/>
            <a:ext cx="741212"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61668" y="2295144"/>
            <a:ext cx="365760" cy="182880"/>
          </a:xfrm>
          <a:prstGeom prst="rect">
            <a:avLst/>
          </a:prstGeom>
          <a:noFill/>
        </p:spPr>
        <p:txBody>
          <a:bodyPr wrap="square">
            <a:spAutoFit/>
          </a:bodyPr>
          <a:lstStyle/>
          <a:p>
            <a:pPr algn="l"/>
            <a:r>
              <a:rPr sz="700" b="0" i="0">
                <a:solidFill>
                  <a:srgbClr val="C8C8C8"/>
                </a:solidFill>
                <a:latin typeface="Calibri"/>
              </a:rPr>
              <a:t>21%</a:t>
            </a:r>
          </a:p>
        </p:txBody>
      </p:sp>
      <p:sp>
        <p:nvSpPr>
          <p:cNvPr id="44" name="TextBox 43"/>
          <p:cNvSpPr txBox="1"/>
          <p:nvPr/>
        </p:nvSpPr>
        <p:spPr>
          <a:xfrm>
            <a:off x="8174736" y="2523744"/>
            <a:ext cx="457200" cy="228600"/>
          </a:xfrm>
          <a:prstGeom prst="rect">
            <a:avLst/>
          </a:prstGeom>
          <a:noFill/>
        </p:spPr>
        <p:txBody>
          <a:bodyPr wrap="square">
            <a:spAutoFit/>
          </a:bodyPr>
          <a:lstStyle/>
          <a:p>
            <a:pPr algn="l"/>
            <a:r>
              <a:rPr sz="800" b="1" i="0">
                <a:solidFill>
                  <a:srgbClr val="FFD54F"/>
                </a:solidFill>
                <a:latin typeface="Calibri"/>
              </a:rPr>
              <a:t>BND</a:t>
            </a:r>
          </a:p>
        </p:txBody>
      </p:sp>
      <p:sp>
        <p:nvSpPr>
          <p:cNvPr id="45" name="Rectangle 44"/>
          <p:cNvSpPr/>
          <p:nvPr/>
        </p:nvSpPr>
        <p:spPr>
          <a:xfrm>
            <a:off x="8174736" y="2770632"/>
            <a:ext cx="352958" cy="164592"/>
          </a:xfrm>
          <a:prstGeom prst="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73414" y="2770632"/>
            <a:ext cx="365760" cy="182880"/>
          </a:xfrm>
          <a:prstGeom prst="rect">
            <a:avLst/>
          </a:prstGeom>
          <a:noFill/>
        </p:spPr>
        <p:txBody>
          <a:bodyPr wrap="square">
            <a:spAutoFit/>
          </a:bodyPr>
          <a:lstStyle/>
          <a:p>
            <a:pPr algn="l"/>
            <a:r>
              <a:rPr sz="700" b="0" i="0">
                <a:solidFill>
                  <a:srgbClr val="C8C8C8"/>
                </a:solidFill>
                <a:latin typeface="Calibri"/>
              </a:rPr>
              <a:t>10%</a:t>
            </a:r>
          </a:p>
        </p:txBody>
      </p:sp>
      <p:sp>
        <p:nvSpPr>
          <p:cNvPr id="47" name="TextBox 46"/>
          <p:cNvSpPr txBox="1"/>
          <p:nvPr/>
        </p:nvSpPr>
        <p:spPr>
          <a:xfrm>
            <a:off x="8174736" y="2999232"/>
            <a:ext cx="457200" cy="228600"/>
          </a:xfrm>
          <a:prstGeom prst="rect">
            <a:avLst/>
          </a:prstGeom>
          <a:noFill/>
        </p:spPr>
        <p:txBody>
          <a:bodyPr wrap="square">
            <a:spAutoFit/>
          </a:bodyPr>
          <a:lstStyle/>
          <a:p>
            <a:pPr algn="l"/>
            <a:r>
              <a:rPr sz="800" b="1" i="0">
                <a:solidFill>
                  <a:srgbClr val="F97316"/>
                </a:solidFill>
                <a:latin typeface="Calibri"/>
              </a:rPr>
              <a:t>BNDX</a:t>
            </a:r>
          </a:p>
        </p:txBody>
      </p:sp>
      <p:sp>
        <p:nvSpPr>
          <p:cNvPr id="48" name="Rectangle 47"/>
          <p:cNvSpPr/>
          <p:nvPr/>
        </p:nvSpPr>
        <p:spPr>
          <a:xfrm>
            <a:off x="8174736" y="3246120"/>
            <a:ext cx="176479" cy="16459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96935" y="3246120"/>
            <a:ext cx="365760" cy="182880"/>
          </a:xfrm>
          <a:prstGeom prst="rect">
            <a:avLst/>
          </a:prstGeom>
          <a:noFill/>
        </p:spPr>
        <p:txBody>
          <a:bodyPr wrap="square">
            <a:spAutoFit/>
          </a:bodyPr>
          <a:lstStyle/>
          <a:p>
            <a:pPr algn="l"/>
            <a:r>
              <a:rPr sz="700" b="0" i="0">
                <a:solidFill>
                  <a:srgbClr val="C8C8C8"/>
                </a:solidFill>
                <a:latin typeface="Calibri"/>
              </a:rPr>
              <a:t>5%</a:t>
            </a:r>
          </a:p>
        </p:txBody>
      </p:sp>
      <p:sp>
        <p:nvSpPr>
          <p:cNvPr id="50" name="Rectangle 49"/>
          <p:cNvSpPr/>
          <p:nvPr/>
        </p:nvSpPr>
        <p:spPr>
          <a:xfrm>
            <a:off x="8174736" y="3611880"/>
            <a:ext cx="3529584" cy="50292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47888" y="3657600"/>
            <a:ext cx="3383280" cy="274320"/>
          </a:xfrm>
          <a:prstGeom prst="rect">
            <a:avLst/>
          </a:prstGeom>
          <a:noFill/>
        </p:spPr>
        <p:txBody>
          <a:bodyPr wrap="square">
            <a:spAutoFit/>
          </a:bodyPr>
          <a:lstStyle/>
          <a:p>
            <a:pPr algn="l"/>
            <a:r>
              <a:rPr sz="800" b="1" i="0">
                <a:solidFill>
                  <a:srgbClr val="78788C"/>
                </a:solidFill>
                <a:latin typeface="Calibri"/>
              </a:rPr>
              <a:t>RATIONALE</a:t>
            </a:r>
          </a:p>
        </p:txBody>
      </p:sp>
      <p:sp>
        <p:nvSpPr>
          <p:cNvPr id="52" name="Rectangle 51"/>
          <p:cNvSpPr/>
          <p:nvPr/>
        </p:nvSpPr>
        <p:spPr>
          <a:xfrm>
            <a:off x="8174736" y="4251960"/>
            <a:ext cx="3529584" cy="50292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47888" y="4297680"/>
            <a:ext cx="3383280" cy="274320"/>
          </a:xfrm>
          <a:prstGeom prst="rect">
            <a:avLst/>
          </a:prstGeom>
          <a:noFill/>
        </p:spPr>
        <p:txBody>
          <a:bodyPr wrap="square">
            <a:spAutoFit/>
          </a:bodyPr>
          <a:lstStyle/>
          <a:p>
            <a:pPr algn="l"/>
            <a:r>
              <a:rPr sz="800" b="1" i="0">
                <a:solidFill>
                  <a:srgbClr val="78788C"/>
                </a:solidFill>
                <a:latin typeface="Calibri"/>
              </a:rPr>
              <a:t>PROJECTIONS</a:t>
            </a:r>
          </a:p>
        </p:txBody>
      </p:sp>
      <p:sp>
        <p:nvSpPr>
          <p:cNvPr id="54" name="Rectangle 53"/>
          <p:cNvSpPr/>
          <p:nvPr/>
        </p:nvSpPr>
        <p:spPr>
          <a:xfrm>
            <a:off x="8174736" y="4892040"/>
            <a:ext cx="3529584" cy="502920"/>
          </a:xfrm>
          <a:prstGeom prst="rect">
            <a:avLst/>
          </a:prstGeom>
          <a:solidFill>
            <a:srgbClr val="14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47888" y="4937760"/>
            <a:ext cx="3383280" cy="274320"/>
          </a:xfrm>
          <a:prstGeom prst="rect">
            <a:avLst/>
          </a:prstGeom>
          <a:noFill/>
        </p:spPr>
        <p:txBody>
          <a:bodyPr wrap="square">
            <a:spAutoFit/>
          </a:bodyPr>
          <a:lstStyle/>
          <a:p>
            <a:pPr algn="l"/>
            <a:r>
              <a:rPr sz="800" b="1" i="0">
                <a:solidFill>
                  <a:srgbClr val="78788C"/>
                </a:solidFill>
                <a:latin typeface="Calibri"/>
              </a:rPr>
              <a:t>ACTION PLAN</a:t>
            </a:r>
          </a:p>
        </p:txBody>
      </p:sp>
      <p:sp>
        <p:nvSpPr>
          <p:cNvPr id="56" name="TextBox 55"/>
          <p:cNvSpPr txBox="1"/>
          <p:nvPr/>
        </p:nvSpPr>
        <p:spPr>
          <a:xfrm>
            <a:off x="5532120" y="6537960"/>
            <a:ext cx="6263640" cy="256032"/>
          </a:xfrm>
          <a:prstGeom prst="rect">
            <a:avLst/>
          </a:prstGeom>
          <a:noFill/>
        </p:spPr>
        <p:txBody>
          <a:bodyPr wrap="square">
            <a:spAutoFit/>
          </a:bodyPr>
          <a:lstStyle/>
          <a:p>
            <a:pPr algn="ctr"/>
            <a:r>
              <a:rPr sz="800" b="0" i="1">
                <a:solidFill>
                  <a:srgbClr val="78788C"/>
                </a:solidFill>
                <a:latin typeface="Calibri"/>
              </a:rPr>
              <a:t>Wireframe — post-generation split 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Evaluation: Think-Aloud Study</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EVALUATION &amp; REFINEMENT  |  n = 7</a:t>
            </a:r>
          </a:p>
        </p:txBody>
      </p:sp>
      <p:sp>
        <p:nvSpPr>
          <p:cNvPr id="5" name="Rectangle 4"/>
          <p:cNvSpPr/>
          <p:nvPr/>
        </p:nvSpPr>
        <p:spPr>
          <a:xfrm>
            <a:off x="365760" y="914400"/>
            <a:ext cx="3200400" cy="5394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05840"/>
            <a:ext cx="2743200" cy="365760"/>
          </a:xfrm>
          <a:prstGeom prst="rect">
            <a:avLst/>
          </a:prstGeom>
          <a:noFill/>
        </p:spPr>
        <p:txBody>
          <a:bodyPr wrap="square">
            <a:spAutoFit/>
          </a:bodyPr>
          <a:lstStyle/>
          <a:p>
            <a:pPr algn="l"/>
            <a:r>
              <a:rPr sz="1100" b="1" i="0">
                <a:solidFill>
                  <a:srgbClr val="4ECDC4"/>
                </a:solidFill>
                <a:latin typeface="Calibri"/>
              </a:rPr>
              <a:t>METHODOLOGY</a:t>
            </a:r>
          </a:p>
        </p:txBody>
      </p:sp>
      <p:sp>
        <p:nvSpPr>
          <p:cNvPr id="7" name="TextBox 6"/>
          <p:cNvSpPr txBox="1"/>
          <p:nvPr/>
        </p:nvSpPr>
        <p:spPr>
          <a:xfrm>
            <a:off x="594360" y="1463040"/>
            <a:ext cx="2743200" cy="4572000"/>
          </a:xfrm>
          <a:prstGeom prst="rect">
            <a:avLst/>
          </a:prstGeom>
          <a:noFill/>
        </p:spPr>
        <p:txBody>
          <a:bodyPr wrap="square">
            <a:spAutoFit/>
          </a:bodyPr>
          <a:lstStyle/>
          <a:p>
            <a:pPr>
              <a:spcBef>
                <a:spcPts val="400"/>
              </a:spcBef>
            </a:pPr>
            <a:r>
              <a:rPr sz="1200">
                <a:solidFill>
                  <a:srgbClr val="C8C8C8"/>
                </a:solidFill>
                <a:latin typeface="Calibri"/>
              </a:rPr>
              <a:t>Task: complete full ChatFolio flow</a:t>
            </a:r>
          </a:p>
          <a:p>
            <a:pPr>
              <a:spcBef>
                <a:spcPts val="400"/>
              </a:spcBef>
            </a:pPr>
            <a:r>
              <a:rPr sz="1200">
                <a:solidFill>
                  <a:srgbClr val="C8C8C8"/>
                </a:solidFill>
                <a:latin typeface="Calibri"/>
              </a:rPr>
              <a:t>   greeting → 4 questions → generate</a:t>
            </a:r>
          </a:p>
          <a:p>
            <a:pPr>
              <a:spcBef>
                <a:spcPts val="400"/>
              </a:spcBef>
            </a:pPr>
            <a:r>
              <a:rPr sz="1200">
                <a:solidFill>
                  <a:srgbClr val="C8C8C8"/>
                </a:solidFill>
                <a:latin typeface="Calibri"/>
              </a:rPr>
              <a:t>Method: think-aloud, moderated</a:t>
            </a:r>
          </a:p>
          <a:p>
            <a:pPr>
              <a:spcBef>
                <a:spcPts val="400"/>
              </a:spcBef>
            </a:pPr>
            <a:r>
              <a:rPr sz="1200">
                <a:solidFill>
                  <a:srgbClr val="C8C8C8"/>
                </a:solidFill>
                <a:latin typeface="Calibri"/>
              </a:rPr>
              <a:t>Observer noted friction points and</a:t>
            </a:r>
          </a:p>
          <a:p>
            <a:pPr>
              <a:spcBef>
                <a:spcPts val="400"/>
              </a:spcBef>
            </a:pPr>
            <a:r>
              <a:rPr sz="1200">
                <a:solidFill>
                  <a:srgbClr val="C8C8C8"/>
                </a:solidFill>
                <a:latin typeface="Calibri"/>
              </a:rPr>
              <a:t>   surprises without guiding users</a:t>
            </a:r>
          </a:p>
          <a:p>
            <a:pPr>
              <a:spcBef>
                <a:spcPts val="400"/>
              </a:spcBef>
            </a:pPr>
            <a:r>
              <a:rPr sz="1200">
                <a:solidFill>
                  <a:srgbClr val="C8C8C8"/>
                </a:solidFill>
                <a:latin typeface="Calibri"/>
              </a:rPr>
              <a:t>n = 7 college students</a:t>
            </a:r>
          </a:p>
          <a:p>
            <a:pPr>
              <a:spcBef>
                <a:spcPts val="400"/>
              </a:spcBef>
            </a:pPr>
            <a:r>
              <a:rPr sz="1200">
                <a:solidFill>
                  <a:srgbClr val="C8C8C8"/>
                </a:solidFill>
                <a:latin typeface="Calibri"/>
              </a:rPr>
              <a:t>   Mixed investing experience</a:t>
            </a:r>
          </a:p>
          <a:p>
            <a:pPr>
              <a:spcBef>
                <a:spcPts val="400"/>
              </a:spcBef>
            </a:pPr>
            <a:r>
              <a:rPr sz="1200">
                <a:solidFill>
                  <a:srgbClr val="C8C8C8"/>
                </a:solidFill>
                <a:latin typeface="Calibri"/>
              </a:rPr>
              <a:t>   CS, Finance, and Economics majors</a:t>
            </a:r>
          </a:p>
          <a:p>
            <a:pPr>
              <a:spcBef>
                <a:spcPts val="400"/>
              </a:spcBef>
            </a:pPr>
            <a:r>
              <a:rPr sz="1200">
                <a:solidFill>
                  <a:srgbClr val="C8C8C8"/>
                </a:solidFill>
                <a:latin typeface="Calibri"/>
              </a:rPr>
              <a:t>Synthesis: affinity diagramming → 6 themes</a:t>
            </a:r>
          </a:p>
        </p:txBody>
      </p:sp>
      <p:sp>
        <p:nvSpPr>
          <p:cNvPr id="8" name="Rectangle 7"/>
          <p:cNvSpPr/>
          <p:nvPr/>
        </p:nvSpPr>
        <p:spPr>
          <a:xfrm>
            <a:off x="3749039" y="914400"/>
            <a:ext cx="2743200" cy="24688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49039" y="914400"/>
            <a:ext cx="2743200" cy="8229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6199" y="1078992"/>
            <a:ext cx="2468880" cy="1005840"/>
          </a:xfrm>
          <a:prstGeom prst="rect">
            <a:avLst/>
          </a:prstGeom>
          <a:noFill/>
        </p:spPr>
        <p:txBody>
          <a:bodyPr wrap="square">
            <a:spAutoFit/>
          </a:bodyPr>
          <a:lstStyle/>
          <a:p>
            <a:pPr algn="l"/>
            <a:r>
              <a:rPr sz="1500" b="1" i="0">
                <a:solidFill>
                  <a:srgbClr val="FFFFFF"/>
                </a:solidFill>
                <a:latin typeface="Calibri"/>
              </a:rPr>
              <a:t>Onboarding &amp;
Initial Prompt</a:t>
            </a:r>
          </a:p>
        </p:txBody>
      </p:sp>
      <p:sp>
        <p:nvSpPr>
          <p:cNvPr id="11" name="Rectangle 10"/>
          <p:cNvSpPr/>
          <p:nvPr/>
        </p:nvSpPr>
        <p:spPr>
          <a:xfrm>
            <a:off x="3886199" y="2834640"/>
            <a:ext cx="1371600" cy="3657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86199" y="2807208"/>
            <a:ext cx="1371600" cy="393192"/>
          </a:xfrm>
          <a:prstGeom prst="rect">
            <a:avLst/>
          </a:prstGeom>
          <a:noFill/>
        </p:spPr>
        <p:txBody>
          <a:bodyPr wrap="square">
            <a:spAutoFit/>
          </a:bodyPr>
          <a:lstStyle/>
          <a:p>
            <a:pPr algn="ctr"/>
            <a:r>
              <a:rPr sz="1000" b="1" i="0">
                <a:solidFill>
                  <a:srgbClr val="1A1A2E"/>
                </a:solidFill>
                <a:latin typeface="Calibri"/>
              </a:rPr>
              <a:t>6 / 7 participants</a:t>
            </a:r>
          </a:p>
        </p:txBody>
      </p:sp>
      <p:sp>
        <p:nvSpPr>
          <p:cNvPr id="13" name="Rectangle 12"/>
          <p:cNvSpPr/>
          <p:nvPr/>
        </p:nvSpPr>
        <p:spPr>
          <a:xfrm>
            <a:off x="6629399" y="914400"/>
            <a:ext cx="2743200" cy="24688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29399" y="914400"/>
            <a:ext cx="2743200" cy="82296"/>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59" y="1078992"/>
            <a:ext cx="2468880" cy="1005840"/>
          </a:xfrm>
          <a:prstGeom prst="rect">
            <a:avLst/>
          </a:prstGeom>
          <a:noFill/>
        </p:spPr>
        <p:txBody>
          <a:bodyPr wrap="square">
            <a:spAutoFit/>
          </a:bodyPr>
          <a:lstStyle/>
          <a:p>
            <a:pPr algn="l"/>
            <a:r>
              <a:rPr sz="1500" b="1" i="0">
                <a:solidFill>
                  <a:srgbClr val="FFFFFF"/>
                </a:solidFill>
                <a:latin typeface="Calibri"/>
              </a:rPr>
              <a:t>Risk Tolerance
Confusion</a:t>
            </a:r>
          </a:p>
        </p:txBody>
      </p:sp>
      <p:sp>
        <p:nvSpPr>
          <p:cNvPr id="16" name="Rectangle 15"/>
          <p:cNvSpPr/>
          <p:nvPr/>
        </p:nvSpPr>
        <p:spPr>
          <a:xfrm>
            <a:off x="6766559" y="2834640"/>
            <a:ext cx="1371600"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59" y="2807208"/>
            <a:ext cx="1371600" cy="393192"/>
          </a:xfrm>
          <a:prstGeom prst="rect">
            <a:avLst/>
          </a:prstGeom>
          <a:noFill/>
        </p:spPr>
        <p:txBody>
          <a:bodyPr wrap="square">
            <a:spAutoFit/>
          </a:bodyPr>
          <a:lstStyle/>
          <a:p>
            <a:pPr algn="ctr"/>
            <a:r>
              <a:rPr sz="1000" b="1" i="0">
                <a:solidFill>
                  <a:srgbClr val="1A1A2E"/>
                </a:solidFill>
                <a:latin typeface="Calibri"/>
              </a:rPr>
              <a:t>3 / 7 participants</a:t>
            </a:r>
          </a:p>
        </p:txBody>
      </p:sp>
      <p:sp>
        <p:nvSpPr>
          <p:cNvPr id="18" name="Rectangle 17"/>
          <p:cNvSpPr/>
          <p:nvPr/>
        </p:nvSpPr>
        <p:spPr>
          <a:xfrm>
            <a:off x="9509759" y="914400"/>
            <a:ext cx="2743200" cy="24688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509759" y="914400"/>
            <a:ext cx="2743200" cy="82296"/>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46919" y="1078992"/>
            <a:ext cx="2468880" cy="1005840"/>
          </a:xfrm>
          <a:prstGeom prst="rect">
            <a:avLst/>
          </a:prstGeom>
          <a:noFill/>
        </p:spPr>
        <p:txBody>
          <a:bodyPr wrap="square">
            <a:spAutoFit/>
          </a:bodyPr>
          <a:lstStyle/>
          <a:p>
            <a:pPr algn="l"/>
            <a:r>
              <a:rPr sz="1500" b="1" i="0">
                <a:solidFill>
                  <a:srgbClr val="FFFFFF"/>
                </a:solidFill>
                <a:latin typeface="Calibri"/>
              </a:rPr>
              <a:t>Chat &amp;
Conversation Flow</a:t>
            </a:r>
          </a:p>
        </p:txBody>
      </p:sp>
      <p:sp>
        <p:nvSpPr>
          <p:cNvPr id="21" name="Rectangle 20"/>
          <p:cNvSpPr/>
          <p:nvPr/>
        </p:nvSpPr>
        <p:spPr>
          <a:xfrm>
            <a:off x="9646919" y="2834640"/>
            <a:ext cx="1371600" cy="365760"/>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46919" y="2807208"/>
            <a:ext cx="1371600" cy="393192"/>
          </a:xfrm>
          <a:prstGeom prst="rect">
            <a:avLst/>
          </a:prstGeom>
          <a:noFill/>
        </p:spPr>
        <p:txBody>
          <a:bodyPr wrap="square">
            <a:spAutoFit/>
          </a:bodyPr>
          <a:lstStyle/>
          <a:p>
            <a:pPr algn="ctr"/>
            <a:r>
              <a:rPr sz="1000" b="1" i="0">
                <a:solidFill>
                  <a:srgbClr val="1A1A2E"/>
                </a:solidFill>
                <a:latin typeface="Calibri"/>
              </a:rPr>
              <a:t>5 / 7 participants</a:t>
            </a:r>
          </a:p>
        </p:txBody>
      </p:sp>
      <p:sp>
        <p:nvSpPr>
          <p:cNvPr id="23" name="Rectangle 22"/>
          <p:cNvSpPr/>
          <p:nvPr/>
        </p:nvSpPr>
        <p:spPr>
          <a:xfrm>
            <a:off x="3749039" y="3566160"/>
            <a:ext cx="2743200" cy="24688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749039" y="3566160"/>
            <a:ext cx="2743200" cy="82296"/>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86199" y="3730752"/>
            <a:ext cx="2468880" cy="1005840"/>
          </a:xfrm>
          <a:prstGeom prst="rect">
            <a:avLst/>
          </a:prstGeom>
          <a:noFill/>
        </p:spPr>
        <p:txBody>
          <a:bodyPr wrap="square">
            <a:spAutoFit/>
          </a:bodyPr>
          <a:lstStyle/>
          <a:p>
            <a:pPr algn="l"/>
            <a:r>
              <a:rPr sz="1500" b="1" i="0">
                <a:solidFill>
                  <a:srgbClr val="FFFFFF"/>
                </a:solidFill>
                <a:latin typeface="Calibri"/>
              </a:rPr>
              <a:t>Portfolio Output &amp;
Comprehension</a:t>
            </a:r>
          </a:p>
        </p:txBody>
      </p:sp>
      <p:sp>
        <p:nvSpPr>
          <p:cNvPr id="26" name="Rectangle 25"/>
          <p:cNvSpPr/>
          <p:nvPr/>
        </p:nvSpPr>
        <p:spPr>
          <a:xfrm>
            <a:off x="3886199" y="5486400"/>
            <a:ext cx="1371600" cy="36576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86199" y="5458968"/>
            <a:ext cx="1371600" cy="393192"/>
          </a:xfrm>
          <a:prstGeom prst="rect">
            <a:avLst/>
          </a:prstGeom>
          <a:noFill/>
        </p:spPr>
        <p:txBody>
          <a:bodyPr wrap="square">
            <a:spAutoFit/>
          </a:bodyPr>
          <a:lstStyle/>
          <a:p>
            <a:pPr algn="ctr"/>
            <a:r>
              <a:rPr sz="1000" b="1" i="0">
                <a:solidFill>
                  <a:srgbClr val="1A1A2E"/>
                </a:solidFill>
                <a:latin typeface="Calibri"/>
              </a:rPr>
              <a:t>5 / 7 participants</a:t>
            </a:r>
          </a:p>
        </p:txBody>
      </p:sp>
      <p:sp>
        <p:nvSpPr>
          <p:cNvPr id="28" name="Rectangle 27"/>
          <p:cNvSpPr/>
          <p:nvPr/>
        </p:nvSpPr>
        <p:spPr>
          <a:xfrm>
            <a:off x="6629399" y="3566160"/>
            <a:ext cx="2743200" cy="24688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29399" y="3566160"/>
            <a:ext cx="2743200" cy="8229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59" y="3730752"/>
            <a:ext cx="2468880" cy="1005840"/>
          </a:xfrm>
          <a:prstGeom prst="rect">
            <a:avLst/>
          </a:prstGeom>
          <a:noFill/>
        </p:spPr>
        <p:txBody>
          <a:bodyPr wrap="square">
            <a:spAutoFit/>
          </a:bodyPr>
          <a:lstStyle/>
          <a:p>
            <a:pPr algn="l"/>
            <a:r>
              <a:rPr sz="1500" b="1" i="0">
                <a:solidFill>
                  <a:srgbClr val="FFFFFF"/>
                </a:solidFill>
                <a:latin typeface="Calibri"/>
              </a:rPr>
              <a:t>UX &amp;
Visual Polish</a:t>
            </a:r>
          </a:p>
        </p:txBody>
      </p:sp>
      <p:sp>
        <p:nvSpPr>
          <p:cNvPr id="31" name="Rectangle 30"/>
          <p:cNvSpPr/>
          <p:nvPr/>
        </p:nvSpPr>
        <p:spPr>
          <a:xfrm>
            <a:off x="6766559" y="5486400"/>
            <a:ext cx="1371600" cy="3657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59" y="5458968"/>
            <a:ext cx="1371600" cy="393192"/>
          </a:xfrm>
          <a:prstGeom prst="rect">
            <a:avLst/>
          </a:prstGeom>
          <a:noFill/>
        </p:spPr>
        <p:txBody>
          <a:bodyPr wrap="square">
            <a:spAutoFit/>
          </a:bodyPr>
          <a:lstStyle/>
          <a:p>
            <a:pPr algn="ctr"/>
            <a:r>
              <a:rPr sz="1000" b="1" i="0">
                <a:solidFill>
                  <a:srgbClr val="1A1A2E"/>
                </a:solidFill>
                <a:latin typeface="Calibri"/>
              </a:rPr>
              <a:t>4 / 7 participants</a:t>
            </a:r>
          </a:p>
        </p:txBody>
      </p:sp>
      <p:sp>
        <p:nvSpPr>
          <p:cNvPr id="33" name="Rectangle 32"/>
          <p:cNvSpPr/>
          <p:nvPr/>
        </p:nvSpPr>
        <p:spPr>
          <a:xfrm>
            <a:off x="9509759" y="3566160"/>
            <a:ext cx="2743200" cy="24688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9759" y="3566160"/>
            <a:ext cx="2743200" cy="8229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46919" y="3730752"/>
            <a:ext cx="2468880" cy="1005840"/>
          </a:xfrm>
          <a:prstGeom prst="rect">
            <a:avLst/>
          </a:prstGeom>
          <a:noFill/>
        </p:spPr>
        <p:txBody>
          <a:bodyPr wrap="square">
            <a:spAutoFit/>
          </a:bodyPr>
          <a:lstStyle/>
          <a:p>
            <a:pPr algn="l"/>
            <a:r>
              <a:rPr sz="1500" b="1" i="0">
                <a:solidFill>
                  <a:srgbClr val="FFFFFF"/>
                </a:solidFill>
                <a:latin typeface="Calibri"/>
              </a:rPr>
              <a:t>What Worked Well</a:t>
            </a:r>
          </a:p>
        </p:txBody>
      </p:sp>
      <p:sp>
        <p:nvSpPr>
          <p:cNvPr id="36" name="Rectangle 35"/>
          <p:cNvSpPr/>
          <p:nvPr/>
        </p:nvSpPr>
        <p:spPr>
          <a:xfrm>
            <a:off x="9646919" y="5486400"/>
            <a:ext cx="1371600" cy="3657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46919" y="5458968"/>
            <a:ext cx="1371600" cy="393192"/>
          </a:xfrm>
          <a:prstGeom prst="rect">
            <a:avLst/>
          </a:prstGeom>
          <a:noFill/>
        </p:spPr>
        <p:txBody>
          <a:bodyPr wrap="square">
            <a:spAutoFit/>
          </a:bodyPr>
          <a:lstStyle/>
          <a:p>
            <a:pPr algn="ctr"/>
            <a:r>
              <a:rPr sz="1000" b="1" i="0">
                <a:solidFill>
                  <a:srgbClr val="1A1A2E"/>
                </a:solidFill>
                <a:latin typeface="Calibri"/>
              </a:rPr>
              <a:t>6 / 7 participants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Key Findings → What We Changed</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EVALUATION &amp; REFINEMENT</a:t>
            </a:r>
          </a:p>
        </p:txBody>
      </p:sp>
      <p:sp>
        <p:nvSpPr>
          <p:cNvPr id="5" name="Rectangle 4"/>
          <p:cNvSpPr/>
          <p:nvPr/>
        </p:nvSpPr>
        <p:spPr>
          <a:xfrm>
            <a:off x="365760" y="914400"/>
            <a:ext cx="5577840" cy="5394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914400"/>
            <a:ext cx="91440" cy="539496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987552"/>
            <a:ext cx="5120640" cy="365760"/>
          </a:xfrm>
          <a:prstGeom prst="rect">
            <a:avLst/>
          </a:prstGeom>
          <a:noFill/>
        </p:spPr>
        <p:txBody>
          <a:bodyPr wrap="square">
            <a:spAutoFit/>
          </a:bodyPr>
          <a:lstStyle/>
          <a:p>
            <a:pPr algn="l"/>
            <a:r>
              <a:rPr sz="1200" b="1" i="0">
                <a:solidFill>
                  <a:srgbClr val="FF6B6B"/>
                </a:solidFill>
                <a:latin typeface="Calibri"/>
              </a:rPr>
              <a:t>PAIN POINTS OBSERVED</a:t>
            </a:r>
          </a:p>
        </p:txBody>
      </p:sp>
      <p:sp>
        <p:nvSpPr>
          <p:cNvPr id="8" name="Rectangle 7"/>
          <p:cNvSpPr/>
          <p:nvPr/>
        </p:nvSpPr>
        <p:spPr>
          <a:xfrm>
            <a:off x="548640" y="1463040"/>
            <a:ext cx="5212080" cy="749808"/>
          </a:xfrm>
          <a:prstGeom prst="rect">
            <a:avLst/>
          </a:prstGeom>
          <a:solidFill>
            <a:srgbClr val="28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54480"/>
            <a:ext cx="320040" cy="502920"/>
          </a:xfrm>
          <a:prstGeom prst="rect">
            <a:avLst/>
          </a:prstGeom>
          <a:noFill/>
        </p:spPr>
        <p:txBody>
          <a:bodyPr wrap="square">
            <a:spAutoFit/>
          </a:bodyPr>
          <a:lstStyle/>
          <a:p>
            <a:pPr algn="ctr"/>
            <a:r>
              <a:rPr sz="1400" b="1" i="0">
                <a:solidFill>
                  <a:srgbClr val="FF6B6B"/>
                </a:solidFill>
                <a:latin typeface="Calibri"/>
              </a:rPr>
              <a:t>1</a:t>
            </a:r>
          </a:p>
        </p:txBody>
      </p:sp>
      <p:sp>
        <p:nvSpPr>
          <p:cNvPr id="10" name="TextBox 9"/>
          <p:cNvSpPr txBox="1"/>
          <p:nvPr/>
        </p:nvSpPr>
        <p:spPr>
          <a:xfrm>
            <a:off x="1051560" y="1554480"/>
            <a:ext cx="4572000" cy="594360"/>
          </a:xfrm>
          <a:prstGeom prst="rect">
            <a:avLst/>
          </a:prstGeom>
          <a:noFill/>
        </p:spPr>
        <p:txBody>
          <a:bodyPr wrap="square">
            <a:spAutoFit/>
          </a:bodyPr>
          <a:lstStyle/>
          <a:p>
            <a:pPr algn="l"/>
            <a:r>
              <a:rPr sz="1100" b="0" i="0">
                <a:solidFill>
                  <a:srgbClr val="C8C8C8"/>
                </a:solidFill>
                <a:latin typeface="Calibri"/>
              </a:rPr>
              <a:t>Onboarding prompt implied only "retirement" or "house" as valid goals</a:t>
            </a:r>
          </a:p>
        </p:txBody>
      </p:sp>
      <p:sp>
        <p:nvSpPr>
          <p:cNvPr id="11" name="Rectangle 10"/>
          <p:cNvSpPr/>
          <p:nvPr/>
        </p:nvSpPr>
        <p:spPr>
          <a:xfrm>
            <a:off x="548640" y="2359152"/>
            <a:ext cx="5212080" cy="749808"/>
          </a:xfrm>
          <a:prstGeom prst="rect">
            <a:avLst/>
          </a:prstGeom>
          <a:solidFill>
            <a:srgbClr val="28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0592"/>
            <a:ext cx="320040" cy="502920"/>
          </a:xfrm>
          <a:prstGeom prst="rect">
            <a:avLst/>
          </a:prstGeom>
          <a:noFill/>
        </p:spPr>
        <p:txBody>
          <a:bodyPr wrap="square">
            <a:spAutoFit/>
          </a:bodyPr>
          <a:lstStyle/>
          <a:p>
            <a:pPr algn="ctr"/>
            <a:r>
              <a:rPr sz="1400" b="1" i="0">
                <a:solidFill>
                  <a:srgbClr val="FF6B6B"/>
                </a:solidFill>
                <a:latin typeface="Calibri"/>
              </a:rPr>
              <a:t>2</a:t>
            </a:r>
          </a:p>
        </p:txBody>
      </p:sp>
      <p:sp>
        <p:nvSpPr>
          <p:cNvPr id="13" name="TextBox 12"/>
          <p:cNvSpPr txBox="1"/>
          <p:nvPr/>
        </p:nvSpPr>
        <p:spPr>
          <a:xfrm>
            <a:off x="1051560" y="2450592"/>
            <a:ext cx="4572000" cy="594360"/>
          </a:xfrm>
          <a:prstGeom prst="rect">
            <a:avLst/>
          </a:prstGeom>
          <a:noFill/>
        </p:spPr>
        <p:txBody>
          <a:bodyPr wrap="square">
            <a:spAutoFit/>
          </a:bodyPr>
          <a:lstStyle/>
          <a:p>
            <a:pPr algn="l"/>
            <a:r>
              <a:rPr sz="1100" b="0" i="0">
                <a:solidFill>
                  <a:srgbClr val="C8C8C8"/>
                </a:solidFill>
                <a:latin typeface="Calibri"/>
              </a:rPr>
              <a:t>Risk tolerance question confused beginners — "35% confident" phrasing broke trust</a:t>
            </a:r>
          </a:p>
        </p:txBody>
      </p:sp>
      <p:sp>
        <p:nvSpPr>
          <p:cNvPr id="14" name="Rectangle 13"/>
          <p:cNvSpPr/>
          <p:nvPr/>
        </p:nvSpPr>
        <p:spPr>
          <a:xfrm>
            <a:off x="548640" y="3255264"/>
            <a:ext cx="5212080" cy="749808"/>
          </a:xfrm>
          <a:prstGeom prst="rect">
            <a:avLst/>
          </a:prstGeom>
          <a:solidFill>
            <a:srgbClr val="28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346704"/>
            <a:ext cx="320040" cy="502920"/>
          </a:xfrm>
          <a:prstGeom prst="rect">
            <a:avLst/>
          </a:prstGeom>
          <a:noFill/>
        </p:spPr>
        <p:txBody>
          <a:bodyPr wrap="square">
            <a:spAutoFit/>
          </a:bodyPr>
          <a:lstStyle/>
          <a:p>
            <a:pPr algn="ctr"/>
            <a:r>
              <a:rPr sz="1400" b="1" i="0">
                <a:solidFill>
                  <a:srgbClr val="FF6B6B"/>
                </a:solidFill>
                <a:latin typeface="Calibri"/>
              </a:rPr>
              <a:t>3</a:t>
            </a:r>
          </a:p>
        </p:txBody>
      </p:sp>
      <p:sp>
        <p:nvSpPr>
          <p:cNvPr id="16" name="TextBox 15"/>
          <p:cNvSpPr txBox="1"/>
          <p:nvPr/>
        </p:nvSpPr>
        <p:spPr>
          <a:xfrm>
            <a:off x="1051560" y="3346704"/>
            <a:ext cx="4572000" cy="594360"/>
          </a:xfrm>
          <a:prstGeom prst="rect">
            <a:avLst/>
          </a:prstGeom>
          <a:noFill/>
        </p:spPr>
        <p:txBody>
          <a:bodyPr wrap="square">
            <a:spAutoFit/>
          </a:bodyPr>
          <a:lstStyle/>
          <a:p>
            <a:pPr algn="l"/>
            <a:r>
              <a:rPr sz="1100" b="0" i="0">
                <a:solidFill>
                  <a:srgbClr val="C8C8C8"/>
                </a:solidFill>
                <a:latin typeface="Calibri"/>
              </a:rPr>
              <a:t>Users dumped all info in one message, bypassing step-by-step design</a:t>
            </a:r>
          </a:p>
        </p:txBody>
      </p:sp>
      <p:sp>
        <p:nvSpPr>
          <p:cNvPr id="17" name="Rectangle 16"/>
          <p:cNvSpPr/>
          <p:nvPr/>
        </p:nvSpPr>
        <p:spPr>
          <a:xfrm>
            <a:off x="548640" y="4151376"/>
            <a:ext cx="5212080" cy="749808"/>
          </a:xfrm>
          <a:prstGeom prst="rect">
            <a:avLst/>
          </a:prstGeom>
          <a:solidFill>
            <a:srgbClr val="28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242816"/>
            <a:ext cx="320040" cy="502920"/>
          </a:xfrm>
          <a:prstGeom prst="rect">
            <a:avLst/>
          </a:prstGeom>
          <a:noFill/>
        </p:spPr>
        <p:txBody>
          <a:bodyPr wrap="square">
            <a:spAutoFit/>
          </a:bodyPr>
          <a:lstStyle/>
          <a:p>
            <a:pPr algn="ctr"/>
            <a:r>
              <a:rPr sz="1400" b="1" i="0">
                <a:solidFill>
                  <a:srgbClr val="FF6B6B"/>
                </a:solidFill>
                <a:latin typeface="Calibri"/>
              </a:rPr>
              <a:t>4</a:t>
            </a:r>
          </a:p>
        </p:txBody>
      </p:sp>
      <p:sp>
        <p:nvSpPr>
          <p:cNvPr id="19" name="TextBox 18"/>
          <p:cNvSpPr txBox="1"/>
          <p:nvPr/>
        </p:nvSpPr>
        <p:spPr>
          <a:xfrm>
            <a:off x="1051560" y="4242816"/>
            <a:ext cx="4572000" cy="594360"/>
          </a:xfrm>
          <a:prstGeom prst="rect">
            <a:avLst/>
          </a:prstGeom>
          <a:noFill/>
        </p:spPr>
        <p:txBody>
          <a:bodyPr wrap="square">
            <a:spAutoFit/>
          </a:bodyPr>
          <a:lstStyle/>
          <a:p>
            <a:pPr algn="l"/>
            <a:r>
              <a:rPr sz="1100" b="0" i="0">
                <a:solidFill>
                  <a:srgbClr val="C8C8C8"/>
                </a:solidFill>
                <a:latin typeface="Calibri"/>
              </a:rPr>
              <a:t>ETF tickers (VTI, VXUS, BND) were meaningless — literacy gap</a:t>
            </a:r>
          </a:p>
        </p:txBody>
      </p:sp>
      <p:sp>
        <p:nvSpPr>
          <p:cNvPr id="20" name="Rectangle 19"/>
          <p:cNvSpPr/>
          <p:nvPr/>
        </p:nvSpPr>
        <p:spPr>
          <a:xfrm>
            <a:off x="548640" y="5047488"/>
            <a:ext cx="5212080" cy="749808"/>
          </a:xfrm>
          <a:prstGeom prst="rect">
            <a:avLst/>
          </a:prstGeom>
          <a:solidFill>
            <a:srgbClr val="28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138928"/>
            <a:ext cx="320040" cy="502920"/>
          </a:xfrm>
          <a:prstGeom prst="rect">
            <a:avLst/>
          </a:prstGeom>
          <a:noFill/>
        </p:spPr>
        <p:txBody>
          <a:bodyPr wrap="square">
            <a:spAutoFit/>
          </a:bodyPr>
          <a:lstStyle/>
          <a:p>
            <a:pPr algn="ctr"/>
            <a:r>
              <a:rPr sz="1400" b="1" i="0">
                <a:solidFill>
                  <a:srgbClr val="FF6B6B"/>
                </a:solidFill>
                <a:latin typeface="Calibri"/>
              </a:rPr>
              <a:t>5</a:t>
            </a:r>
          </a:p>
        </p:txBody>
      </p:sp>
      <p:sp>
        <p:nvSpPr>
          <p:cNvPr id="22" name="TextBox 21"/>
          <p:cNvSpPr txBox="1"/>
          <p:nvPr/>
        </p:nvSpPr>
        <p:spPr>
          <a:xfrm>
            <a:off x="1051560" y="5138928"/>
            <a:ext cx="4572000" cy="594360"/>
          </a:xfrm>
          <a:prstGeom prst="rect">
            <a:avLst/>
          </a:prstGeom>
          <a:noFill/>
        </p:spPr>
        <p:txBody>
          <a:bodyPr wrap="square">
            <a:spAutoFit/>
          </a:bodyPr>
          <a:lstStyle/>
          <a:p>
            <a:pPr algn="l"/>
            <a:r>
              <a:rPr sz="1100" b="0" i="0">
                <a:solidFill>
                  <a:srgbClr val="C8C8C8"/>
                </a:solidFill>
                <a:latin typeface="Calibri"/>
              </a:rPr>
              <a:t>No feedback when a follow-up message triggered portfolio regeneration</a:t>
            </a:r>
          </a:p>
        </p:txBody>
      </p:sp>
      <p:sp>
        <p:nvSpPr>
          <p:cNvPr id="23" name="Rectangle 22"/>
          <p:cNvSpPr/>
          <p:nvPr/>
        </p:nvSpPr>
        <p:spPr>
          <a:xfrm>
            <a:off x="6217920" y="914400"/>
            <a:ext cx="5577840" cy="53949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914400"/>
            <a:ext cx="91440" cy="539496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987552"/>
            <a:ext cx="5120640" cy="365760"/>
          </a:xfrm>
          <a:prstGeom prst="rect">
            <a:avLst/>
          </a:prstGeom>
          <a:noFill/>
        </p:spPr>
        <p:txBody>
          <a:bodyPr wrap="square">
            <a:spAutoFit/>
          </a:bodyPr>
          <a:lstStyle/>
          <a:p>
            <a:pPr algn="l"/>
            <a:r>
              <a:rPr sz="1200" b="1" i="0">
                <a:solidFill>
                  <a:srgbClr val="4ECDC4"/>
                </a:solidFill>
                <a:latin typeface="Calibri"/>
              </a:rPr>
              <a:t>WHAT WE CHANGED</a:t>
            </a:r>
          </a:p>
        </p:txBody>
      </p:sp>
      <p:sp>
        <p:nvSpPr>
          <p:cNvPr id="26" name="Rectangle 25"/>
          <p:cNvSpPr/>
          <p:nvPr/>
        </p:nvSpPr>
        <p:spPr>
          <a:xfrm>
            <a:off x="6400800" y="1463040"/>
            <a:ext cx="5212080" cy="749808"/>
          </a:xfrm>
          <a:prstGeom prst="rect">
            <a:avLst/>
          </a:prstGeom>
          <a:solidFill>
            <a:srgbClr val="0A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1554480"/>
            <a:ext cx="320040" cy="502920"/>
          </a:xfrm>
          <a:prstGeom prst="rect">
            <a:avLst/>
          </a:prstGeom>
          <a:noFill/>
        </p:spPr>
        <p:txBody>
          <a:bodyPr wrap="square">
            <a:spAutoFit/>
          </a:bodyPr>
          <a:lstStyle/>
          <a:p>
            <a:pPr algn="ctr"/>
            <a:r>
              <a:rPr sz="1400" b="1" i="0">
                <a:solidFill>
                  <a:srgbClr val="4ECDC4"/>
                </a:solidFill>
                <a:latin typeface="Calibri"/>
              </a:rPr>
              <a:t>✓</a:t>
            </a:r>
          </a:p>
        </p:txBody>
      </p:sp>
      <p:sp>
        <p:nvSpPr>
          <p:cNvPr id="28" name="TextBox 27"/>
          <p:cNvSpPr txBox="1"/>
          <p:nvPr/>
        </p:nvSpPr>
        <p:spPr>
          <a:xfrm>
            <a:off x="6903720" y="1554480"/>
            <a:ext cx="4572000" cy="594360"/>
          </a:xfrm>
          <a:prstGeom prst="rect">
            <a:avLst/>
          </a:prstGeom>
          <a:noFill/>
        </p:spPr>
        <p:txBody>
          <a:bodyPr wrap="square">
            <a:spAutoFit/>
          </a:bodyPr>
          <a:lstStyle/>
          <a:p>
            <a:pPr algn="l"/>
            <a:r>
              <a:rPr sz="1100" b="0" i="0">
                <a:solidFill>
                  <a:srgbClr val="C8C8C8"/>
                </a:solidFill>
                <a:latin typeface="Calibri"/>
              </a:rPr>
              <a:t>Rewrote opening prompt to accept any goal; removed example anchors</a:t>
            </a:r>
          </a:p>
        </p:txBody>
      </p:sp>
      <p:sp>
        <p:nvSpPr>
          <p:cNvPr id="29" name="Rectangle 28"/>
          <p:cNvSpPr/>
          <p:nvPr/>
        </p:nvSpPr>
        <p:spPr>
          <a:xfrm>
            <a:off x="6400800" y="2359152"/>
            <a:ext cx="5212080" cy="749808"/>
          </a:xfrm>
          <a:prstGeom prst="rect">
            <a:avLst/>
          </a:prstGeom>
          <a:solidFill>
            <a:srgbClr val="0A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2450592"/>
            <a:ext cx="320040" cy="502920"/>
          </a:xfrm>
          <a:prstGeom prst="rect">
            <a:avLst/>
          </a:prstGeom>
          <a:noFill/>
        </p:spPr>
        <p:txBody>
          <a:bodyPr wrap="square">
            <a:spAutoFit/>
          </a:bodyPr>
          <a:lstStyle/>
          <a:p>
            <a:pPr algn="ctr"/>
            <a:r>
              <a:rPr sz="1400" b="1" i="0">
                <a:solidFill>
                  <a:srgbClr val="4ECDC4"/>
                </a:solidFill>
                <a:latin typeface="Calibri"/>
              </a:rPr>
              <a:t>✓</a:t>
            </a:r>
          </a:p>
        </p:txBody>
      </p:sp>
      <p:sp>
        <p:nvSpPr>
          <p:cNvPr id="31" name="TextBox 30"/>
          <p:cNvSpPr txBox="1"/>
          <p:nvPr/>
        </p:nvSpPr>
        <p:spPr>
          <a:xfrm>
            <a:off x="6903720" y="2450592"/>
            <a:ext cx="4572000" cy="594360"/>
          </a:xfrm>
          <a:prstGeom prst="rect">
            <a:avLst/>
          </a:prstGeom>
          <a:noFill/>
        </p:spPr>
        <p:txBody>
          <a:bodyPr wrap="square">
            <a:spAutoFit/>
          </a:bodyPr>
          <a:lstStyle/>
          <a:p>
            <a:pPr algn="l"/>
            <a:r>
              <a:rPr sz="1100" b="0" i="0">
                <a:solidFill>
                  <a:srgbClr val="C8C8C8"/>
                </a:solidFill>
                <a:latin typeface="Calibri"/>
              </a:rPr>
              <a:t>Required plain-language risk descriptions; banned numeric outputs</a:t>
            </a:r>
          </a:p>
        </p:txBody>
      </p:sp>
      <p:sp>
        <p:nvSpPr>
          <p:cNvPr id="32" name="Rectangle 31"/>
          <p:cNvSpPr/>
          <p:nvPr/>
        </p:nvSpPr>
        <p:spPr>
          <a:xfrm>
            <a:off x="6400800" y="3255264"/>
            <a:ext cx="5212080" cy="749808"/>
          </a:xfrm>
          <a:prstGeom prst="rect">
            <a:avLst/>
          </a:prstGeom>
          <a:solidFill>
            <a:srgbClr val="0A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10528" y="3346704"/>
            <a:ext cx="320040" cy="502920"/>
          </a:xfrm>
          <a:prstGeom prst="rect">
            <a:avLst/>
          </a:prstGeom>
          <a:noFill/>
        </p:spPr>
        <p:txBody>
          <a:bodyPr wrap="square">
            <a:spAutoFit/>
          </a:bodyPr>
          <a:lstStyle/>
          <a:p>
            <a:pPr algn="ctr"/>
            <a:r>
              <a:rPr sz="1400" b="1" i="0">
                <a:solidFill>
                  <a:srgbClr val="4ECDC4"/>
                </a:solidFill>
                <a:latin typeface="Calibri"/>
              </a:rPr>
              <a:t>✓</a:t>
            </a:r>
          </a:p>
        </p:txBody>
      </p:sp>
      <p:sp>
        <p:nvSpPr>
          <p:cNvPr id="34" name="TextBox 33"/>
          <p:cNvSpPr txBox="1"/>
          <p:nvPr/>
        </p:nvSpPr>
        <p:spPr>
          <a:xfrm>
            <a:off x="6903720" y="3346704"/>
            <a:ext cx="4572000" cy="594360"/>
          </a:xfrm>
          <a:prstGeom prst="rect">
            <a:avLst/>
          </a:prstGeom>
          <a:noFill/>
        </p:spPr>
        <p:txBody>
          <a:bodyPr wrap="square">
            <a:spAutoFit/>
          </a:bodyPr>
          <a:lstStyle/>
          <a:p>
            <a:pPr algn="l"/>
            <a:r>
              <a:rPr sz="1100" b="0" i="0">
                <a:solidFill>
                  <a:srgbClr val="C8C8C8"/>
                </a:solidFill>
                <a:latin typeface="Calibri"/>
              </a:rPr>
              <a:t>Enforced one-question-at-a-time in system prompt; added confirmation loop</a:t>
            </a:r>
          </a:p>
        </p:txBody>
      </p:sp>
      <p:sp>
        <p:nvSpPr>
          <p:cNvPr id="35" name="Rectangle 34"/>
          <p:cNvSpPr/>
          <p:nvPr/>
        </p:nvSpPr>
        <p:spPr>
          <a:xfrm>
            <a:off x="6400800" y="4151376"/>
            <a:ext cx="5212080" cy="749808"/>
          </a:xfrm>
          <a:prstGeom prst="rect">
            <a:avLst/>
          </a:prstGeom>
          <a:solidFill>
            <a:srgbClr val="0A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10528" y="4242816"/>
            <a:ext cx="320040" cy="502920"/>
          </a:xfrm>
          <a:prstGeom prst="rect">
            <a:avLst/>
          </a:prstGeom>
          <a:noFill/>
        </p:spPr>
        <p:txBody>
          <a:bodyPr wrap="square">
            <a:spAutoFit/>
          </a:bodyPr>
          <a:lstStyle/>
          <a:p>
            <a:pPr algn="ctr"/>
            <a:r>
              <a:rPr sz="1400" b="1" i="0">
                <a:solidFill>
                  <a:srgbClr val="4ECDC4"/>
                </a:solidFill>
                <a:latin typeface="Calibri"/>
              </a:rPr>
              <a:t>✓</a:t>
            </a:r>
          </a:p>
        </p:txBody>
      </p:sp>
      <p:sp>
        <p:nvSpPr>
          <p:cNvPr id="37" name="TextBox 36"/>
          <p:cNvSpPr txBox="1"/>
          <p:nvPr/>
        </p:nvSpPr>
        <p:spPr>
          <a:xfrm>
            <a:off x="6903720" y="4242816"/>
            <a:ext cx="4572000" cy="594360"/>
          </a:xfrm>
          <a:prstGeom prst="rect">
            <a:avLst/>
          </a:prstGeom>
          <a:noFill/>
        </p:spPr>
        <p:txBody>
          <a:bodyPr wrap="square">
            <a:spAutoFit/>
          </a:bodyPr>
          <a:lstStyle/>
          <a:p>
            <a:pPr algn="l"/>
            <a:r>
              <a:rPr sz="1100" b="0" i="0">
                <a:solidFill>
                  <a:srgbClr val="C8C8C8"/>
                </a:solidFill>
                <a:latin typeface="Calibri"/>
              </a:rPr>
              <a:t>Added inline ETF explanations to rationale; defined "index fund" on first use</a:t>
            </a:r>
          </a:p>
        </p:txBody>
      </p:sp>
      <p:sp>
        <p:nvSpPr>
          <p:cNvPr id="38" name="Rectangle 37"/>
          <p:cNvSpPr/>
          <p:nvPr/>
        </p:nvSpPr>
        <p:spPr>
          <a:xfrm>
            <a:off x="6400800" y="5047488"/>
            <a:ext cx="5212080" cy="749808"/>
          </a:xfrm>
          <a:prstGeom prst="rect">
            <a:avLst/>
          </a:prstGeom>
          <a:solidFill>
            <a:srgbClr val="0A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10528" y="5138928"/>
            <a:ext cx="320040" cy="502920"/>
          </a:xfrm>
          <a:prstGeom prst="rect">
            <a:avLst/>
          </a:prstGeom>
          <a:noFill/>
        </p:spPr>
        <p:txBody>
          <a:bodyPr wrap="square">
            <a:spAutoFit/>
          </a:bodyPr>
          <a:lstStyle/>
          <a:p>
            <a:pPr algn="ctr"/>
            <a:r>
              <a:rPr sz="1400" b="1" i="0">
                <a:solidFill>
                  <a:srgbClr val="4ECDC4"/>
                </a:solidFill>
                <a:latin typeface="Calibri"/>
              </a:rPr>
              <a:t>✓</a:t>
            </a:r>
          </a:p>
        </p:txBody>
      </p:sp>
      <p:sp>
        <p:nvSpPr>
          <p:cNvPr id="40" name="TextBox 39"/>
          <p:cNvSpPr txBox="1"/>
          <p:nvPr/>
        </p:nvSpPr>
        <p:spPr>
          <a:xfrm>
            <a:off x="6903720" y="5138928"/>
            <a:ext cx="4572000" cy="594360"/>
          </a:xfrm>
          <a:prstGeom prst="rect">
            <a:avLst/>
          </a:prstGeom>
          <a:noFill/>
        </p:spPr>
        <p:txBody>
          <a:bodyPr wrap="square">
            <a:spAutoFit/>
          </a:bodyPr>
          <a:lstStyle/>
          <a:p>
            <a:pPr algn="l"/>
            <a:r>
              <a:rPr sz="1100" b="0" i="0">
                <a:solidFill>
                  <a:srgbClr val="C8C8C8"/>
                </a:solidFill>
                <a:latin typeface="Calibri"/>
              </a:rPr>
              <a:t>Added spinner + success toast on regeneration; clear visual feedback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Evaluation Results</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EVALUATION &amp; REFINEMENT</a:t>
            </a:r>
          </a:p>
        </p:txBody>
      </p:sp>
      <p:pic>
        <p:nvPicPr>
          <p:cNvPr id="5" name="Picture 4" descr="image.png"/>
          <p:cNvPicPr>
            <a:picLocks noChangeAspect="1"/>
          </p:cNvPicPr>
          <p:nvPr/>
        </p:nvPicPr>
        <p:blipFill>
          <a:blip r:embed="rId2"/>
          <a:stretch>
            <a:fillRect/>
          </a:stretch>
        </p:blipFill>
        <p:spPr>
          <a:xfrm>
            <a:off x="274320" y="914400"/>
            <a:ext cx="7955279" cy="3702161"/>
          </a:xfrm>
          <a:prstGeom prst="rect">
            <a:avLst/>
          </a:prstGeom>
        </p:spPr>
      </p:pic>
      <p:sp>
        <p:nvSpPr>
          <p:cNvPr id="6" name="TextBox 5"/>
          <p:cNvSpPr txBox="1"/>
          <p:nvPr/>
        </p:nvSpPr>
        <p:spPr>
          <a:xfrm>
            <a:off x="8549640" y="987552"/>
            <a:ext cx="914400" cy="347472"/>
          </a:xfrm>
          <a:prstGeom prst="rect">
            <a:avLst/>
          </a:prstGeom>
          <a:noFill/>
        </p:spPr>
        <p:txBody>
          <a:bodyPr wrap="square">
            <a:spAutoFit/>
          </a:bodyPr>
          <a:lstStyle/>
          <a:p>
            <a:pPr algn="ctr"/>
            <a:r>
              <a:rPr sz="1200" b="1" i="0">
                <a:solidFill>
                  <a:srgbClr val="4ECDC4"/>
                </a:solidFill>
                <a:latin typeface="Calibri"/>
              </a:rPr>
              <a:t>Metric</a:t>
            </a:r>
          </a:p>
        </p:txBody>
      </p:sp>
      <p:sp>
        <p:nvSpPr>
          <p:cNvPr id="7" name="TextBox 6"/>
          <p:cNvSpPr txBox="1"/>
          <p:nvPr/>
        </p:nvSpPr>
        <p:spPr>
          <a:xfrm>
            <a:off x="9464040" y="987552"/>
            <a:ext cx="914400" cy="347472"/>
          </a:xfrm>
          <a:prstGeom prst="rect">
            <a:avLst/>
          </a:prstGeom>
          <a:noFill/>
        </p:spPr>
        <p:txBody>
          <a:bodyPr wrap="square">
            <a:spAutoFit/>
          </a:bodyPr>
          <a:lstStyle/>
          <a:p>
            <a:pPr algn="ctr"/>
            <a:r>
              <a:rPr sz="1200" b="1" i="0">
                <a:solidFill>
                  <a:srgbClr val="4ECDC4"/>
                </a:solidFill>
                <a:latin typeface="Calibri"/>
              </a:rPr>
              <a:t>V1</a:t>
            </a:r>
          </a:p>
        </p:txBody>
      </p:sp>
      <p:sp>
        <p:nvSpPr>
          <p:cNvPr id="8" name="TextBox 7"/>
          <p:cNvSpPr txBox="1"/>
          <p:nvPr/>
        </p:nvSpPr>
        <p:spPr>
          <a:xfrm>
            <a:off x="10378440" y="987552"/>
            <a:ext cx="914400" cy="347472"/>
          </a:xfrm>
          <a:prstGeom prst="rect">
            <a:avLst/>
          </a:prstGeom>
          <a:noFill/>
        </p:spPr>
        <p:txBody>
          <a:bodyPr wrap="square">
            <a:spAutoFit/>
          </a:bodyPr>
          <a:lstStyle/>
          <a:p>
            <a:pPr algn="ctr"/>
            <a:r>
              <a:rPr sz="1200" b="1" i="0">
                <a:solidFill>
                  <a:srgbClr val="4ECDC4"/>
                </a:solidFill>
                <a:latin typeface="Calibri"/>
              </a:rPr>
              <a:t>V2</a:t>
            </a:r>
          </a:p>
        </p:txBody>
      </p:sp>
      <p:sp>
        <p:nvSpPr>
          <p:cNvPr id="9" name="TextBox 8"/>
          <p:cNvSpPr txBox="1"/>
          <p:nvPr/>
        </p:nvSpPr>
        <p:spPr>
          <a:xfrm>
            <a:off x="11247120" y="987552"/>
            <a:ext cx="914400" cy="347472"/>
          </a:xfrm>
          <a:prstGeom prst="rect">
            <a:avLst/>
          </a:prstGeom>
          <a:noFill/>
        </p:spPr>
        <p:txBody>
          <a:bodyPr wrap="square">
            <a:spAutoFit/>
          </a:bodyPr>
          <a:lstStyle/>
          <a:p>
            <a:pPr algn="ctr"/>
            <a:r>
              <a:rPr sz="1200" b="1" i="0">
                <a:solidFill>
                  <a:srgbClr val="4ECDC4"/>
                </a:solidFill>
                <a:latin typeface="Calibri"/>
              </a:rPr>
              <a:t>Δ</a:t>
            </a:r>
          </a:p>
        </p:txBody>
      </p:sp>
      <p:sp>
        <p:nvSpPr>
          <p:cNvPr id="10" name="Rectangle 9"/>
          <p:cNvSpPr/>
          <p:nvPr/>
        </p:nvSpPr>
        <p:spPr>
          <a:xfrm>
            <a:off x="8549640" y="1335024"/>
            <a:ext cx="3337560" cy="27432"/>
          </a:xfrm>
          <a:prstGeom prst="rect">
            <a:avLst/>
          </a:prstGeom>
          <a:solidFill>
            <a:srgbClr val="78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49640" y="1371600"/>
            <a:ext cx="3337560" cy="548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1417320"/>
            <a:ext cx="914400" cy="457200"/>
          </a:xfrm>
          <a:prstGeom prst="rect">
            <a:avLst/>
          </a:prstGeom>
          <a:noFill/>
        </p:spPr>
        <p:txBody>
          <a:bodyPr wrap="square">
            <a:spAutoFit/>
          </a:bodyPr>
          <a:lstStyle/>
          <a:p>
            <a:pPr algn="ctr"/>
            <a:r>
              <a:rPr sz="1200" b="0" i="0">
                <a:solidFill>
                  <a:srgbClr val="C8C8C8"/>
                </a:solidFill>
                <a:latin typeface="Calibri"/>
              </a:rPr>
              <a:t>LLM Avg</a:t>
            </a:r>
          </a:p>
        </p:txBody>
      </p:sp>
      <p:sp>
        <p:nvSpPr>
          <p:cNvPr id="13" name="TextBox 12"/>
          <p:cNvSpPr txBox="1"/>
          <p:nvPr/>
        </p:nvSpPr>
        <p:spPr>
          <a:xfrm>
            <a:off x="9464040" y="1417320"/>
            <a:ext cx="914400" cy="457200"/>
          </a:xfrm>
          <a:prstGeom prst="rect">
            <a:avLst/>
          </a:prstGeom>
          <a:noFill/>
        </p:spPr>
        <p:txBody>
          <a:bodyPr wrap="square">
            <a:spAutoFit/>
          </a:bodyPr>
          <a:lstStyle/>
          <a:p>
            <a:pPr algn="ctr"/>
            <a:r>
              <a:rPr sz="1200" b="0" i="0">
                <a:solidFill>
                  <a:srgbClr val="FF6B6B"/>
                </a:solidFill>
                <a:latin typeface="Calibri"/>
              </a:rPr>
              <a:t>3.61</a:t>
            </a:r>
          </a:p>
        </p:txBody>
      </p:sp>
      <p:sp>
        <p:nvSpPr>
          <p:cNvPr id="14" name="TextBox 13"/>
          <p:cNvSpPr txBox="1"/>
          <p:nvPr/>
        </p:nvSpPr>
        <p:spPr>
          <a:xfrm>
            <a:off x="10378440" y="1417320"/>
            <a:ext cx="914400" cy="457200"/>
          </a:xfrm>
          <a:prstGeom prst="rect">
            <a:avLst/>
          </a:prstGeom>
          <a:noFill/>
        </p:spPr>
        <p:txBody>
          <a:bodyPr wrap="square">
            <a:spAutoFit/>
          </a:bodyPr>
          <a:lstStyle/>
          <a:p>
            <a:pPr algn="ctr"/>
            <a:r>
              <a:rPr sz="1200" b="0" i="0">
                <a:solidFill>
                  <a:srgbClr val="4ECDC4"/>
                </a:solidFill>
                <a:latin typeface="Calibri"/>
              </a:rPr>
              <a:t>4.80</a:t>
            </a:r>
          </a:p>
        </p:txBody>
      </p:sp>
      <p:sp>
        <p:nvSpPr>
          <p:cNvPr id="15" name="TextBox 14"/>
          <p:cNvSpPr txBox="1"/>
          <p:nvPr/>
        </p:nvSpPr>
        <p:spPr>
          <a:xfrm>
            <a:off x="11247120" y="1417320"/>
            <a:ext cx="914400" cy="457200"/>
          </a:xfrm>
          <a:prstGeom prst="rect">
            <a:avLst/>
          </a:prstGeom>
          <a:noFill/>
        </p:spPr>
        <p:txBody>
          <a:bodyPr wrap="square">
            <a:spAutoFit/>
          </a:bodyPr>
          <a:lstStyle/>
          <a:p>
            <a:pPr algn="ctr"/>
            <a:r>
              <a:rPr sz="1200" b="1" i="0">
                <a:solidFill>
                  <a:srgbClr val="22C55E"/>
                </a:solidFill>
                <a:latin typeface="Calibri"/>
              </a:rPr>
              <a:t>+1.19</a:t>
            </a:r>
          </a:p>
        </p:txBody>
      </p:sp>
      <p:sp>
        <p:nvSpPr>
          <p:cNvPr id="16" name="Rectangle 15"/>
          <p:cNvSpPr/>
          <p:nvPr/>
        </p:nvSpPr>
        <p:spPr>
          <a:xfrm>
            <a:off x="8549640" y="1965960"/>
            <a:ext cx="3337560" cy="548640"/>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9640" y="2011680"/>
            <a:ext cx="914400" cy="457200"/>
          </a:xfrm>
          <a:prstGeom prst="rect">
            <a:avLst/>
          </a:prstGeom>
          <a:noFill/>
        </p:spPr>
        <p:txBody>
          <a:bodyPr wrap="square">
            <a:spAutoFit/>
          </a:bodyPr>
          <a:lstStyle/>
          <a:p>
            <a:pPr algn="ctr"/>
            <a:r>
              <a:rPr sz="1200" b="0" i="0">
                <a:solidFill>
                  <a:srgbClr val="C8C8C8"/>
                </a:solidFill>
                <a:latin typeface="Calibri"/>
              </a:rPr>
              <a:t>Human Avg</a:t>
            </a:r>
          </a:p>
        </p:txBody>
      </p:sp>
      <p:sp>
        <p:nvSpPr>
          <p:cNvPr id="18" name="TextBox 17"/>
          <p:cNvSpPr txBox="1"/>
          <p:nvPr/>
        </p:nvSpPr>
        <p:spPr>
          <a:xfrm>
            <a:off x="9464040" y="2011680"/>
            <a:ext cx="914400" cy="457200"/>
          </a:xfrm>
          <a:prstGeom prst="rect">
            <a:avLst/>
          </a:prstGeom>
          <a:noFill/>
        </p:spPr>
        <p:txBody>
          <a:bodyPr wrap="square">
            <a:spAutoFit/>
          </a:bodyPr>
          <a:lstStyle/>
          <a:p>
            <a:pPr algn="ctr"/>
            <a:r>
              <a:rPr sz="1200" b="0" i="0">
                <a:solidFill>
                  <a:srgbClr val="FF6B6B"/>
                </a:solidFill>
                <a:latin typeface="Calibri"/>
              </a:rPr>
              <a:t>3.96</a:t>
            </a:r>
          </a:p>
        </p:txBody>
      </p:sp>
      <p:sp>
        <p:nvSpPr>
          <p:cNvPr id="19" name="TextBox 18"/>
          <p:cNvSpPr txBox="1"/>
          <p:nvPr/>
        </p:nvSpPr>
        <p:spPr>
          <a:xfrm>
            <a:off x="10378440" y="2011680"/>
            <a:ext cx="914400" cy="457200"/>
          </a:xfrm>
          <a:prstGeom prst="rect">
            <a:avLst/>
          </a:prstGeom>
          <a:noFill/>
        </p:spPr>
        <p:txBody>
          <a:bodyPr wrap="square">
            <a:spAutoFit/>
          </a:bodyPr>
          <a:lstStyle/>
          <a:p>
            <a:pPr algn="ctr"/>
            <a:r>
              <a:rPr sz="1200" b="0" i="0">
                <a:solidFill>
                  <a:srgbClr val="4ECDC4"/>
                </a:solidFill>
                <a:latin typeface="Calibri"/>
              </a:rPr>
              <a:t>4.76</a:t>
            </a:r>
          </a:p>
        </p:txBody>
      </p:sp>
      <p:sp>
        <p:nvSpPr>
          <p:cNvPr id="20" name="TextBox 19"/>
          <p:cNvSpPr txBox="1"/>
          <p:nvPr/>
        </p:nvSpPr>
        <p:spPr>
          <a:xfrm>
            <a:off x="11247120" y="2011680"/>
            <a:ext cx="914400" cy="457200"/>
          </a:xfrm>
          <a:prstGeom prst="rect">
            <a:avLst/>
          </a:prstGeom>
          <a:noFill/>
        </p:spPr>
        <p:txBody>
          <a:bodyPr wrap="square">
            <a:spAutoFit/>
          </a:bodyPr>
          <a:lstStyle/>
          <a:p>
            <a:pPr algn="ctr"/>
            <a:r>
              <a:rPr sz="1200" b="1" i="0">
                <a:solidFill>
                  <a:srgbClr val="22C55E"/>
                </a:solidFill>
                <a:latin typeface="Calibri"/>
              </a:rPr>
              <a:t>+0.80</a:t>
            </a:r>
          </a:p>
        </p:txBody>
      </p:sp>
      <p:sp>
        <p:nvSpPr>
          <p:cNvPr id="21" name="Rectangle 20"/>
          <p:cNvSpPr/>
          <p:nvPr/>
        </p:nvSpPr>
        <p:spPr>
          <a:xfrm>
            <a:off x="8549640" y="2560320"/>
            <a:ext cx="3337560" cy="548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9640" y="2606040"/>
            <a:ext cx="914400" cy="457200"/>
          </a:xfrm>
          <a:prstGeom prst="rect">
            <a:avLst/>
          </a:prstGeom>
          <a:noFill/>
        </p:spPr>
        <p:txBody>
          <a:bodyPr wrap="square">
            <a:spAutoFit/>
          </a:bodyPr>
          <a:lstStyle/>
          <a:p>
            <a:pPr algn="ctr"/>
            <a:r>
              <a:rPr sz="1200" b="0" i="0">
                <a:solidFill>
                  <a:srgbClr val="C8C8C8"/>
                </a:solidFill>
                <a:latin typeface="Calibri"/>
              </a:rPr>
              <a:t>LLM Pass %</a:t>
            </a:r>
          </a:p>
        </p:txBody>
      </p:sp>
      <p:sp>
        <p:nvSpPr>
          <p:cNvPr id="23" name="TextBox 22"/>
          <p:cNvSpPr txBox="1"/>
          <p:nvPr/>
        </p:nvSpPr>
        <p:spPr>
          <a:xfrm>
            <a:off x="9464040" y="2606040"/>
            <a:ext cx="914400" cy="457200"/>
          </a:xfrm>
          <a:prstGeom prst="rect">
            <a:avLst/>
          </a:prstGeom>
          <a:noFill/>
        </p:spPr>
        <p:txBody>
          <a:bodyPr wrap="square">
            <a:spAutoFit/>
          </a:bodyPr>
          <a:lstStyle/>
          <a:p>
            <a:pPr algn="ctr"/>
            <a:r>
              <a:rPr sz="1200" b="0" i="0">
                <a:solidFill>
                  <a:srgbClr val="FF6B6B"/>
                </a:solidFill>
                <a:latin typeface="Calibri"/>
              </a:rPr>
              <a:t>67.3%</a:t>
            </a:r>
          </a:p>
        </p:txBody>
      </p:sp>
      <p:sp>
        <p:nvSpPr>
          <p:cNvPr id="24" name="TextBox 23"/>
          <p:cNvSpPr txBox="1"/>
          <p:nvPr/>
        </p:nvSpPr>
        <p:spPr>
          <a:xfrm>
            <a:off x="10378440" y="2606040"/>
            <a:ext cx="914400" cy="457200"/>
          </a:xfrm>
          <a:prstGeom prst="rect">
            <a:avLst/>
          </a:prstGeom>
          <a:noFill/>
        </p:spPr>
        <p:txBody>
          <a:bodyPr wrap="square">
            <a:spAutoFit/>
          </a:bodyPr>
          <a:lstStyle/>
          <a:p>
            <a:pPr algn="ctr"/>
            <a:r>
              <a:rPr sz="1200" b="0" i="0">
                <a:solidFill>
                  <a:srgbClr val="4ECDC4"/>
                </a:solidFill>
                <a:latin typeface="Calibri"/>
              </a:rPr>
              <a:t>91.8%</a:t>
            </a:r>
          </a:p>
        </p:txBody>
      </p:sp>
      <p:sp>
        <p:nvSpPr>
          <p:cNvPr id="25" name="TextBox 24"/>
          <p:cNvSpPr txBox="1"/>
          <p:nvPr/>
        </p:nvSpPr>
        <p:spPr>
          <a:xfrm>
            <a:off x="11247120" y="2606040"/>
            <a:ext cx="914400" cy="457200"/>
          </a:xfrm>
          <a:prstGeom prst="rect">
            <a:avLst/>
          </a:prstGeom>
          <a:noFill/>
        </p:spPr>
        <p:txBody>
          <a:bodyPr wrap="square">
            <a:spAutoFit/>
          </a:bodyPr>
          <a:lstStyle/>
          <a:p>
            <a:pPr algn="ctr"/>
            <a:r>
              <a:rPr sz="1200" b="1" i="0">
                <a:solidFill>
                  <a:srgbClr val="22C55E"/>
                </a:solidFill>
                <a:latin typeface="Calibri"/>
              </a:rPr>
              <a:t>+24.5pp</a:t>
            </a:r>
          </a:p>
        </p:txBody>
      </p:sp>
      <p:sp>
        <p:nvSpPr>
          <p:cNvPr id="26" name="Rectangle 25"/>
          <p:cNvSpPr/>
          <p:nvPr/>
        </p:nvSpPr>
        <p:spPr>
          <a:xfrm>
            <a:off x="8549640" y="3154680"/>
            <a:ext cx="3337560" cy="548640"/>
          </a:xfrm>
          <a:prstGeom prst="rect">
            <a:avLst/>
          </a:prstGeom>
          <a:solidFill>
            <a:srgbClr val="141C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9640" y="3200400"/>
            <a:ext cx="914400" cy="457200"/>
          </a:xfrm>
          <a:prstGeom prst="rect">
            <a:avLst/>
          </a:prstGeom>
          <a:noFill/>
        </p:spPr>
        <p:txBody>
          <a:bodyPr wrap="square">
            <a:spAutoFit/>
          </a:bodyPr>
          <a:lstStyle/>
          <a:p>
            <a:pPr algn="ctr"/>
            <a:r>
              <a:rPr sz="1200" b="0" i="0">
                <a:solidFill>
                  <a:srgbClr val="C8C8C8"/>
                </a:solidFill>
                <a:latin typeface="Calibri"/>
              </a:rPr>
              <a:t>Human Pass %</a:t>
            </a:r>
          </a:p>
        </p:txBody>
      </p:sp>
      <p:sp>
        <p:nvSpPr>
          <p:cNvPr id="28" name="TextBox 27"/>
          <p:cNvSpPr txBox="1"/>
          <p:nvPr/>
        </p:nvSpPr>
        <p:spPr>
          <a:xfrm>
            <a:off x="9464040" y="3200400"/>
            <a:ext cx="914400" cy="457200"/>
          </a:xfrm>
          <a:prstGeom prst="rect">
            <a:avLst/>
          </a:prstGeom>
          <a:noFill/>
        </p:spPr>
        <p:txBody>
          <a:bodyPr wrap="square">
            <a:spAutoFit/>
          </a:bodyPr>
          <a:lstStyle/>
          <a:p>
            <a:pPr algn="ctr"/>
            <a:r>
              <a:rPr sz="1200" b="0" i="0">
                <a:solidFill>
                  <a:srgbClr val="FF6B6B"/>
                </a:solidFill>
                <a:latin typeface="Calibri"/>
              </a:rPr>
              <a:t>71.4%</a:t>
            </a:r>
          </a:p>
        </p:txBody>
      </p:sp>
      <p:sp>
        <p:nvSpPr>
          <p:cNvPr id="29" name="TextBox 28"/>
          <p:cNvSpPr txBox="1"/>
          <p:nvPr/>
        </p:nvSpPr>
        <p:spPr>
          <a:xfrm>
            <a:off x="10378440" y="3200400"/>
            <a:ext cx="914400" cy="457200"/>
          </a:xfrm>
          <a:prstGeom prst="rect">
            <a:avLst/>
          </a:prstGeom>
          <a:noFill/>
        </p:spPr>
        <p:txBody>
          <a:bodyPr wrap="square">
            <a:spAutoFit/>
          </a:bodyPr>
          <a:lstStyle/>
          <a:p>
            <a:pPr algn="ctr"/>
            <a:r>
              <a:rPr sz="1200" b="0" i="0">
                <a:solidFill>
                  <a:srgbClr val="4ECDC4"/>
                </a:solidFill>
                <a:latin typeface="Calibri"/>
              </a:rPr>
              <a:t>95.9%</a:t>
            </a:r>
          </a:p>
        </p:txBody>
      </p:sp>
      <p:sp>
        <p:nvSpPr>
          <p:cNvPr id="30" name="TextBox 29"/>
          <p:cNvSpPr txBox="1"/>
          <p:nvPr/>
        </p:nvSpPr>
        <p:spPr>
          <a:xfrm>
            <a:off x="11247120" y="3200400"/>
            <a:ext cx="914400" cy="457200"/>
          </a:xfrm>
          <a:prstGeom prst="rect">
            <a:avLst/>
          </a:prstGeom>
          <a:noFill/>
        </p:spPr>
        <p:txBody>
          <a:bodyPr wrap="square">
            <a:spAutoFit/>
          </a:bodyPr>
          <a:lstStyle/>
          <a:p>
            <a:pPr algn="ctr"/>
            <a:r>
              <a:rPr sz="1200" b="1" i="0">
                <a:solidFill>
                  <a:srgbClr val="22C55E"/>
                </a:solidFill>
                <a:latin typeface="Calibri"/>
              </a:rPr>
              <a:t>+24.5pp</a:t>
            </a:r>
          </a:p>
        </p:txBody>
      </p:sp>
      <p:sp>
        <p:nvSpPr>
          <p:cNvPr id="31" name="Rectangle 30"/>
          <p:cNvSpPr/>
          <p:nvPr/>
        </p:nvSpPr>
        <p:spPr>
          <a:xfrm>
            <a:off x="8549640" y="3931920"/>
            <a:ext cx="3337560" cy="1463040"/>
          </a:xfrm>
          <a:prstGeom prst="rect">
            <a:avLst/>
          </a:prstGeom>
          <a:solidFill>
            <a:srgbClr val="0A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49640" y="3977639"/>
            <a:ext cx="3337560" cy="640080"/>
          </a:xfrm>
          <a:prstGeom prst="rect">
            <a:avLst/>
          </a:prstGeom>
          <a:noFill/>
        </p:spPr>
        <p:txBody>
          <a:bodyPr wrap="square">
            <a:spAutoFit/>
          </a:bodyPr>
          <a:lstStyle/>
          <a:p>
            <a:pPr algn="ctr"/>
            <a:r>
              <a:rPr sz="3400" b="1" i="0">
                <a:solidFill>
                  <a:srgbClr val="4ECDC4"/>
                </a:solidFill>
                <a:latin typeface="Calibri"/>
              </a:rPr>
              <a:t>+24.5 pp</a:t>
            </a:r>
          </a:p>
        </p:txBody>
      </p:sp>
      <p:sp>
        <p:nvSpPr>
          <p:cNvPr id="33" name="TextBox 32"/>
          <p:cNvSpPr txBox="1"/>
          <p:nvPr/>
        </p:nvSpPr>
        <p:spPr>
          <a:xfrm>
            <a:off x="8549640" y="4617720"/>
            <a:ext cx="3337560" cy="320040"/>
          </a:xfrm>
          <a:prstGeom prst="rect">
            <a:avLst/>
          </a:prstGeom>
          <a:noFill/>
        </p:spPr>
        <p:txBody>
          <a:bodyPr wrap="square">
            <a:spAutoFit/>
          </a:bodyPr>
          <a:lstStyle/>
          <a:p>
            <a:pPr algn="ctr"/>
            <a:r>
              <a:rPr sz="1100" b="0" i="0">
                <a:solidFill>
                  <a:srgbClr val="C8C8C8"/>
                </a:solidFill>
                <a:latin typeface="Calibri"/>
              </a:rPr>
              <a:t>human pass rate improvement</a:t>
            </a:r>
          </a:p>
        </p:txBody>
      </p:sp>
      <p:sp>
        <p:nvSpPr>
          <p:cNvPr id="34" name="TextBox 33"/>
          <p:cNvSpPr txBox="1"/>
          <p:nvPr/>
        </p:nvSpPr>
        <p:spPr>
          <a:xfrm>
            <a:off x="8549640" y="4956048"/>
            <a:ext cx="3337560" cy="365760"/>
          </a:xfrm>
          <a:prstGeom prst="rect">
            <a:avLst/>
          </a:prstGeom>
          <a:noFill/>
        </p:spPr>
        <p:txBody>
          <a:bodyPr wrap="square">
            <a:spAutoFit/>
          </a:bodyPr>
          <a:lstStyle/>
          <a:p>
            <a:pPr algn="ctr"/>
            <a:r>
              <a:rPr sz="1600" b="1" i="0">
                <a:solidFill>
                  <a:srgbClr val="FFFFFF"/>
                </a:solidFill>
                <a:latin typeface="Calibri"/>
              </a:rPr>
              <a:t>71.4%  →  95.9%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Walkthrough Demo</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DEMO VIDEO  |  2-3 minutes</a:t>
            </a:r>
          </a:p>
        </p:txBody>
      </p:sp>
      <p:sp>
        <p:nvSpPr>
          <p:cNvPr id="5" name="TextBox 4"/>
          <p:cNvSpPr txBox="1"/>
          <p:nvPr/>
        </p:nvSpPr>
        <p:spPr>
          <a:xfrm>
            <a:off x="457200" y="749808"/>
            <a:ext cx="5486400" cy="320040"/>
          </a:xfrm>
          <a:prstGeom prst="rect">
            <a:avLst/>
          </a:prstGeom>
          <a:noFill/>
        </p:spPr>
        <p:txBody>
          <a:bodyPr wrap="square">
            <a:spAutoFit/>
          </a:bodyPr>
          <a:lstStyle/>
          <a:p>
            <a:pPr algn="l"/>
            <a:r>
              <a:rPr sz="1300" b="0" i="1">
                <a:solidFill>
                  <a:srgbClr val="78788C"/>
                </a:solidFill>
                <a:latin typeface="Calibri"/>
              </a:rPr>
              <a:t>(Video submitted as separate file)</a:t>
            </a:r>
          </a:p>
        </p:txBody>
      </p:sp>
      <p:sp>
        <p:nvSpPr>
          <p:cNvPr id="6" name="Rectangle 5"/>
          <p:cNvSpPr/>
          <p:nvPr/>
        </p:nvSpPr>
        <p:spPr>
          <a:xfrm>
            <a:off x="365760" y="1188720"/>
            <a:ext cx="11430000" cy="4114800"/>
          </a:xfrm>
          <a:prstGeom prst="rect">
            <a:avLst/>
          </a:prstGeom>
          <a:solidFill>
            <a:srgbClr val="0F1623"/>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377440"/>
            <a:ext cx="11430000" cy="1371600"/>
          </a:xfrm>
          <a:prstGeom prst="rect">
            <a:avLst/>
          </a:prstGeom>
          <a:noFill/>
        </p:spPr>
        <p:txBody>
          <a:bodyPr wrap="square">
            <a:spAutoFit/>
          </a:bodyPr>
          <a:lstStyle/>
          <a:p>
            <a:pPr algn="ctr"/>
            <a:r>
              <a:rPr sz="6400" b="0" i="0">
                <a:solidFill>
                  <a:srgbClr val="4ECDC4"/>
                </a:solidFill>
                <a:latin typeface="Calibri"/>
              </a:rPr>
              <a:t>▶</a:t>
            </a:r>
          </a:p>
        </p:txBody>
      </p:sp>
      <p:sp>
        <p:nvSpPr>
          <p:cNvPr id="8" name="TextBox 7"/>
          <p:cNvSpPr txBox="1"/>
          <p:nvPr/>
        </p:nvSpPr>
        <p:spPr>
          <a:xfrm>
            <a:off x="365760" y="5486400"/>
            <a:ext cx="4572000" cy="347472"/>
          </a:xfrm>
          <a:prstGeom prst="rect">
            <a:avLst/>
          </a:prstGeom>
          <a:noFill/>
        </p:spPr>
        <p:txBody>
          <a:bodyPr wrap="square">
            <a:spAutoFit/>
          </a:bodyPr>
          <a:lstStyle/>
          <a:p>
            <a:pPr algn="l"/>
            <a:r>
              <a:rPr sz="1300" b="1" i="0">
                <a:solidFill>
                  <a:srgbClr val="C8C8C8"/>
                </a:solidFill>
                <a:latin typeface="Calibri"/>
              </a:rPr>
              <a:t>Key moments in the demo:</a:t>
            </a:r>
          </a:p>
        </p:txBody>
      </p:sp>
      <p:sp>
        <p:nvSpPr>
          <p:cNvPr id="9" name="TextBox 8"/>
          <p:cNvSpPr txBox="1"/>
          <p:nvPr/>
        </p:nvSpPr>
        <p:spPr>
          <a:xfrm>
            <a:off x="365760" y="5870448"/>
            <a:ext cx="11430000" cy="914400"/>
          </a:xfrm>
          <a:prstGeom prst="rect">
            <a:avLst/>
          </a:prstGeom>
          <a:noFill/>
        </p:spPr>
        <p:txBody>
          <a:bodyPr wrap="square">
            <a:spAutoFit/>
          </a:bodyPr>
          <a:lstStyle/>
          <a:p>
            <a:pPr>
              <a:spcBef>
                <a:spcPts val="400"/>
              </a:spcBef>
            </a:pPr>
            <a:r>
              <a:rPr sz="1200">
                <a:solidFill>
                  <a:srgbClr val="C8C8C8"/>
                </a:solidFill>
                <a:latin typeface="Calibri"/>
              </a:rPr>
              <a:t>1.  Onboarding panel on first load — what ChatFolio is and isn't</a:t>
            </a:r>
          </a:p>
          <a:p>
            <a:pPr>
              <a:spcBef>
                <a:spcPts val="400"/>
              </a:spcBef>
            </a:pPr>
            <a:r>
              <a:rPr sz="1200">
                <a:solidFill>
                  <a:srgbClr val="C8C8C8"/>
                </a:solidFill>
                <a:latin typeface="Calibri"/>
              </a:rPr>
              <a:t>2.  Conversational profile building — one question at a time</a:t>
            </a:r>
          </a:p>
          <a:p>
            <a:pPr>
              <a:spcBef>
                <a:spcPts val="400"/>
              </a:spcBef>
            </a:pPr>
            <a:r>
              <a:rPr sz="1200">
                <a:solidFill>
                  <a:srgbClr val="C8C8C8"/>
                </a:solidFill>
                <a:latin typeface="Calibri"/>
              </a:rPr>
              <a:t>3.  Live sidebar updating in real time as fields are confirmed</a:t>
            </a:r>
          </a:p>
          <a:p>
            <a:pPr>
              <a:spcBef>
                <a:spcPts val="400"/>
              </a:spcBef>
            </a:pPr>
            <a:r>
              <a:rPr sz="1200">
                <a:solidFill>
                  <a:srgbClr val="C8C8C8"/>
                </a:solidFill>
                <a:latin typeface="Calibri"/>
              </a:rPr>
              <a:t>4.  Clicking "Generate My Portfolio" — the deliberate pause</a:t>
            </a:r>
          </a:p>
          <a:p>
            <a:pPr>
              <a:spcBef>
                <a:spcPts val="400"/>
              </a:spcBef>
            </a:pPr>
            <a:r>
              <a:rPr sz="1200">
                <a:solidFill>
                  <a:srgbClr val="C8C8C8"/>
                </a:solidFill>
                <a:latin typeface="Calibri"/>
              </a:rPr>
              <a:t>5.  Reading the rationale and growth projections</a:t>
            </a:r>
          </a:p>
          <a:p>
            <a:pPr>
              <a:spcBef>
                <a:spcPts val="400"/>
              </a:spcBef>
            </a:pPr>
            <a:r>
              <a:rPr sz="1200">
                <a:solidFill>
                  <a:srgbClr val="C8C8C8"/>
                </a:solidFill>
                <a:latin typeface="Calibri"/>
              </a:rPr>
              <a:t>6.  Follow-up adjustment → spinner → portfolio regenerates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601200" cy="658368"/>
          </a:xfrm>
          <a:prstGeom prst="rect">
            <a:avLst/>
          </a:prstGeom>
          <a:noFill/>
        </p:spPr>
        <p:txBody>
          <a:bodyPr wrap="square">
            <a:spAutoFit/>
          </a:bodyPr>
          <a:lstStyle/>
          <a:p>
            <a:pPr algn="l"/>
            <a:r>
              <a:rPr sz="2600" b="1" i="0">
                <a:solidFill>
                  <a:srgbClr val="FFFFFF"/>
                </a:solidFill>
                <a:latin typeface="Calibri"/>
              </a:rPr>
              <a:t>Lessons Learned</a:t>
            </a:r>
          </a:p>
        </p:txBody>
      </p:sp>
      <p:sp>
        <p:nvSpPr>
          <p:cNvPr id="4" name="TextBox 3"/>
          <p:cNvSpPr txBox="1"/>
          <p:nvPr/>
        </p:nvSpPr>
        <p:spPr>
          <a:xfrm>
            <a:off x="9144000" y="91440"/>
            <a:ext cx="2743200" cy="457200"/>
          </a:xfrm>
          <a:prstGeom prst="rect">
            <a:avLst/>
          </a:prstGeom>
          <a:noFill/>
        </p:spPr>
        <p:txBody>
          <a:bodyPr wrap="square">
            <a:spAutoFit/>
          </a:bodyPr>
          <a:lstStyle/>
          <a:p>
            <a:pPr algn="r"/>
            <a:r>
              <a:rPr sz="1000" b="0" i="0">
                <a:solidFill>
                  <a:srgbClr val="4ECDC4"/>
                </a:solidFill>
                <a:latin typeface="Calibri"/>
              </a:rPr>
              <a:t>LESSONS LEARNED</a:t>
            </a:r>
          </a:p>
        </p:txBody>
      </p:sp>
      <p:sp>
        <p:nvSpPr>
          <p:cNvPr id="5" name="Rectangle 4"/>
          <p:cNvSpPr/>
          <p:nvPr/>
        </p:nvSpPr>
        <p:spPr>
          <a:xfrm>
            <a:off x="365760" y="1005840"/>
            <a:ext cx="11430000" cy="1234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05840"/>
            <a:ext cx="109728" cy="12344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97280"/>
            <a:ext cx="457200" cy="502920"/>
          </a:xfrm>
          <a:prstGeom prst="rect">
            <a:avLst/>
          </a:prstGeom>
          <a:noFill/>
        </p:spPr>
        <p:txBody>
          <a:bodyPr wrap="square">
            <a:spAutoFit/>
          </a:bodyPr>
          <a:lstStyle/>
          <a:p>
            <a:pPr algn="l"/>
            <a:r>
              <a:rPr sz="2200" b="1" i="0">
                <a:solidFill>
                  <a:srgbClr val="4ECDC4"/>
                </a:solidFill>
                <a:latin typeface="Calibri"/>
              </a:rPr>
              <a:t>1</a:t>
            </a:r>
          </a:p>
        </p:txBody>
      </p:sp>
      <p:sp>
        <p:nvSpPr>
          <p:cNvPr id="8" name="TextBox 7"/>
          <p:cNvSpPr txBox="1"/>
          <p:nvPr/>
        </p:nvSpPr>
        <p:spPr>
          <a:xfrm>
            <a:off x="1188720" y="1078992"/>
            <a:ext cx="10424160" cy="411480"/>
          </a:xfrm>
          <a:prstGeom prst="rect">
            <a:avLst/>
          </a:prstGeom>
          <a:noFill/>
        </p:spPr>
        <p:txBody>
          <a:bodyPr wrap="square">
            <a:spAutoFit/>
          </a:bodyPr>
          <a:lstStyle/>
          <a:p>
            <a:pPr algn="l"/>
            <a:r>
              <a:rPr sz="1500" b="1" i="0">
                <a:solidFill>
                  <a:srgbClr val="4ECDC4"/>
                </a:solidFill>
                <a:latin typeface="Calibri"/>
              </a:rPr>
              <a:t>Mixed-initiative interaction works — but only if users feel in control</a:t>
            </a:r>
          </a:p>
        </p:txBody>
      </p:sp>
      <p:sp>
        <p:nvSpPr>
          <p:cNvPr id="9" name="TextBox 8"/>
          <p:cNvSpPr txBox="1"/>
          <p:nvPr/>
        </p:nvSpPr>
        <p:spPr>
          <a:xfrm>
            <a:off x="1188720" y="1508760"/>
            <a:ext cx="10424160" cy="658368"/>
          </a:xfrm>
          <a:prstGeom prst="rect">
            <a:avLst/>
          </a:prstGeom>
          <a:noFill/>
        </p:spPr>
        <p:txBody>
          <a:bodyPr wrap="square">
            <a:spAutoFit/>
          </a:bodyPr>
          <a:lstStyle/>
          <a:p>
            <a:pPr algn="l"/>
            <a:r>
              <a:rPr sz="1200" b="0" i="0">
                <a:solidFill>
                  <a:srgbClr val="C8C8C8"/>
                </a:solidFill>
                <a:latin typeface="Calibri"/>
              </a:rPr>
              <a:t>Users engaged most when they could steer the conversation freely. The edit loop was used more than we expected — people wanted to iterate, not just accept.</a:t>
            </a:r>
          </a:p>
        </p:txBody>
      </p:sp>
      <p:sp>
        <p:nvSpPr>
          <p:cNvPr id="10" name="Rectangle 9"/>
          <p:cNvSpPr/>
          <p:nvPr/>
        </p:nvSpPr>
        <p:spPr>
          <a:xfrm>
            <a:off x="365760" y="2377440"/>
            <a:ext cx="11430000" cy="1234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377440"/>
            <a:ext cx="109728" cy="12344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68880"/>
            <a:ext cx="457200" cy="502920"/>
          </a:xfrm>
          <a:prstGeom prst="rect">
            <a:avLst/>
          </a:prstGeom>
          <a:noFill/>
        </p:spPr>
        <p:txBody>
          <a:bodyPr wrap="square">
            <a:spAutoFit/>
          </a:bodyPr>
          <a:lstStyle/>
          <a:p>
            <a:pPr algn="l"/>
            <a:r>
              <a:rPr sz="2200" b="1" i="0">
                <a:solidFill>
                  <a:srgbClr val="22C55E"/>
                </a:solidFill>
                <a:latin typeface="Calibri"/>
              </a:rPr>
              <a:t>2</a:t>
            </a:r>
          </a:p>
        </p:txBody>
      </p:sp>
      <p:sp>
        <p:nvSpPr>
          <p:cNvPr id="13" name="TextBox 12"/>
          <p:cNvSpPr txBox="1"/>
          <p:nvPr/>
        </p:nvSpPr>
        <p:spPr>
          <a:xfrm>
            <a:off x="1188720" y="2450592"/>
            <a:ext cx="10424160" cy="411480"/>
          </a:xfrm>
          <a:prstGeom prst="rect">
            <a:avLst/>
          </a:prstGeom>
          <a:noFill/>
        </p:spPr>
        <p:txBody>
          <a:bodyPr wrap="square">
            <a:spAutoFit/>
          </a:bodyPr>
          <a:lstStyle/>
          <a:p>
            <a:pPr algn="l"/>
            <a:r>
              <a:rPr sz="1500" b="1" i="0">
                <a:solidFill>
                  <a:srgbClr val="22C55E"/>
                </a:solidFill>
                <a:latin typeface="Calibri"/>
              </a:rPr>
              <a:t>Financial literacy is a design problem, not a user problem</a:t>
            </a:r>
          </a:p>
        </p:txBody>
      </p:sp>
      <p:sp>
        <p:nvSpPr>
          <p:cNvPr id="14" name="TextBox 13"/>
          <p:cNvSpPr txBox="1"/>
          <p:nvPr/>
        </p:nvSpPr>
        <p:spPr>
          <a:xfrm>
            <a:off x="1188720" y="2880360"/>
            <a:ext cx="10424160" cy="658368"/>
          </a:xfrm>
          <a:prstGeom prst="rect">
            <a:avLst/>
          </a:prstGeom>
          <a:noFill/>
        </p:spPr>
        <p:txBody>
          <a:bodyPr wrap="square">
            <a:spAutoFit/>
          </a:bodyPr>
          <a:lstStyle/>
          <a:p>
            <a:pPr algn="l"/>
            <a:r>
              <a:rPr sz="1200" b="0" i="0">
                <a:solidFill>
                  <a:srgbClr val="C8C8C8"/>
                </a:solidFill>
                <a:latin typeface="Calibri"/>
              </a:rPr>
              <a:t>Every time a user got confused by a term, that was our failure, not theirs. Inline definitions and plain-language rationale closed the gap more than any other change.</a:t>
            </a:r>
          </a:p>
        </p:txBody>
      </p:sp>
      <p:sp>
        <p:nvSpPr>
          <p:cNvPr id="15" name="Rectangle 14"/>
          <p:cNvSpPr/>
          <p:nvPr/>
        </p:nvSpPr>
        <p:spPr>
          <a:xfrm>
            <a:off x="365760" y="3749040"/>
            <a:ext cx="11430000" cy="1234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749040"/>
            <a:ext cx="109728" cy="12344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840480"/>
            <a:ext cx="457200" cy="502920"/>
          </a:xfrm>
          <a:prstGeom prst="rect">
            <a:avLst/>
          </a:prstGeom>
          <a:noFill/>
        </p:spPr>
        <p:txBody>
          <a:bodyPr wrap="square">
            <a:spAutoFit/>
          </a:bodyPr>
          <a:lstStyle/>
          <a:p>
            <a:pPr algn="l"/>
            <a:r>
              <a:rPr sz="2200" b="1" i="0">
                <a:solidFill>
                  <a:srgbClr val="F97316"/>
                </a:solidFill>
                <a:latin typeface="Calibri"/>
              </a:rPr>
              <a:t>3</a:t>
            </a:r>
          </a:p>
        </p:txBody>
      </p:sp>
      <p:sp>
        <p:nvSpPr>
          <p:cNvPr id="18" name="TextBox 17"/>
          <p:cNvSpPr txBox="1"/>
          <p:nvPr/>
        </p:nvSpPr>
        <p:spPr>
          <a:xfrm>
            <a:off x="1188720" y="3822192"/>
            <a:ext cx="10424160" cy="411480"/>
          </a:xfrm>
          <a:prstGeom prst="rect">
            <a:avLst/>
          </a:prstGeom>
          <a:noFill/>
        </p:spPr>
        <p:txBody>
          <a:bodyPr wrap="square">
            <a:spAutoFit/>
          </a:bodyPr>
          <a:lstStyle/>
          <a:p>
            <a:pPr algn="l"/>
            <a:r>
              <a:rPr sz="1500" b="1" i="0">
                <a:solidFill>
                  <a:srgbClr val="F97316"/>
                </a:solidFill>
                <a:latin typeface="Calibri"/>
              </a:rPr>
              <a:t>Conversation beats forms — but only if it doesn't feel like a form in disguise</a:t>
            </a:r>
          </a:p>
        </p:txBody>
      </p:sp>
      <p:sp>
        <p:nvSpPr>
          <p:cNvPr id="19" name="TextBox 18"/>
          <p:cNvSpPr txBox="1"/>
          <p:nvPr/>
        </p:nvSpPr>
        <p:spPr>
          <a:xfrm>
            <a:off x="1188720" y="4251960"/>
            <a:ext cx="10424160" cy="658368"/>
          </a:xfrm>
          <a:prstGeom prst="rect">
            <a:avLst/>
          </a:prstGeom>
          <a:noFill/>
        </p:spPr>
        <p:txBody>
          <a:bodyPr wrap="square">
            <a:spAutoFit/>
          </a:bodyPr>
          <a:lstStyle/>
          <a:p>
            <a:pPr algn="l"/>
            <a:r>
              <a:rPr sz="1200" b="0" i="0">
                <a:solidFill>
                  <a:srgbClr val="C8C8C8"/>
                </a:solidFill>
                <a:latin typeface="Calibri"/>
              </a:rPr>
              <a:t>The one-question-at-a-time approach worked, but users who tried to answer everything upfront revealed a tension: our sequential design assumed the user would pace with us.</a:t>
            </a:r>
          </a:p>
        </p:txBody>
      </p:sp>
      <p:sp>
        <p:nvSpPr>
          <p:cNvPr id="20" name="Rectangle 19"/>
          <p:cNvSpPr/>
          <p:nvPr/>
        </p:nvSpPr>
        <p:spPr>
          <a:xfrm>
            <a:off x="365760" y="5120640"/>
            <a:ext cx="11430000" cy="1234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5120640"/>
            <a:ext cx="109728" cy="123444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5212080"/>
            <a:ext cx="457200" cy="502920"/>
          </a:xfrm>
          <a:prstGeom prst="rect">
            <a:avLst/>
          </a:prstGeom>
          <a:noFill/>
        </p:spPr>
        <p:txBody>
          <a:bodyPr wrap="square">
            <a:spAutoFit/>
          </a:bodyPr>
          <a:lstStyle/>
          <a:p>
            <a:pPr algn="l"/>
            <a:r>
              <a:rPr sz="2200" b="1" i="0">
                <a:solidFill>
                  <a:srgbClr val="FF6B6B"/>
                </a:solidFill>
                <a:latin typeface="Calibri"/>
              </a:rPr>
              <a:t>4</a:t>
            </a:r>
          </a:p>
        </p:txBody>
      </p:sp>
      <p:sp>
        <p:nvSpPr>
          <p:cNvPr id="23" name="TextBox 22"/>
          <p:cNvSpPr txBox="1"/>
          <p:nvPr/>
        </p:nvSpPr>
        <p:spPr>
          <a:xfrm>
            <a:off x="1188720" y="5193792"/>
            <a:ext cx="10424160" cy="411480"/>
          </a:xfrm>
          <a:prstGeom prst="rect">
            <a:avLst/>
          </a:prstGeom>
          <a:noFill/>
        </p:spPr>
        <p:txBody>
          <a:bodyPr wrap="square">
            <a:spAutoFit/>
          </a:bodyPr>
          <a:lstStyle/>
          <a:p>
            <a:pPr algn="l"/>
            <a:r>
              <a:rPr sz="1500" b="1" i="0">
                <a:solidFill>
                  <a:srgbClr val="FF6B6B"/>
                </a:solidFill>
                <a:latin typeface="Calibri"/>
              </a:rPr>
              <a:t>The edit loop matters as much as first generation — iteration is the real product</a:t>
            </a:r>
          </a:p>
        </p:txBody>
      </p:sp>
      <p:sp>
        <p:nvSpPr>
          <p:cNvPr id="24" name="TextBox 23"/>
          <p:cNvSpPr txBox="1"/>
          <p:nvPr/>
        </p:nvSpPr>
        <p:spPr>
          <a:xfrm>
            <a:off x="1188720" y="5623560"/>
            <a:ext cx="10424160" cy="658368"/>
          </a:xfrm>
          <a:prstGeom prst="rect">
            <a:avLst/>
          </a:prstGeom>
          <a:noFill/>
        </p:spPr>
        <p:txBody>
          <a:bodyPr wrap="square">
            <a:spAutoFit/>
          </a:bodyPr>
          <a:lstStyle/>
          <a:p>
            <a:pPr algn="l"/>
            <a:r>
              <a:rPr sz="1200" b="0" i="0">
                <a:solidFill>
                  <a:srgbClr val="C8C8C8"/>
                </a:solidFill>
                <a:latin typeface="Calibri"/>
              </a:rPr>
              <a:t>We almost shipped without robust post-generation UX. The think-aloud study made clear that the moment after "Generate" is where users actually engage with the output.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32720" cy="1188720"/>
          </a:xfrm>
          <a:prstGeom prst="rect">
            <a:avLst/>
          </a:prstGeom>
          <a:noFill/>
        </p:spPr>
        <p:txBody>
          <a:bodyPr wrap="square">
            <a:spAutoFit/>
          </a:bodyPr>
          <a:lstStyle/>
          <a:p>
            <a:pPr algn="ctr"/>
            <a:r>
              <a:rPr sz="5600" b="1" i="0">
                <a:solidFill>
                  <a:srgbClr val="4ECDC4"/>
                </a:solidFill>
                <a:latin typeface="Calibri"/>
              </a:rPr>
              <a:t>ChatFolio</a:t>
            </a:r>
          </a:p>
        </p:txBody>
      </p:sp>
      <p:sp>
        <p:nvSpPr>
          <p:cNvPr id="4" name="TextBox 3"/>
          <p:cNvSpPr txBox="1"/>
          <p:nvPr/>
        </p:nvSpPr>
        <p:spPr>
          <a:xfrm>
            <a:off x="914400" y="2697480"/>
            <a:ext cx="10332720" cy="640080"/>
          </a:xfrm>
          <a:prstGeom prst="rect">
            <a:avLst/>
          </a:prstGeom>
          <a:noFill/>
        </p:spPr>
        <p:txBody>
          <a:bodyPr wrap="square">
            <a:spAutoFit/>
          </a:bodyPr>
          <a:lstStyle/>
          <a:p>
            <a:pPr algn="ctr"/>
            <a:r>
              <a:rPr sz="3200" b="0" i="0">
                <a:solidFill>
                  <a:srgbClr val="FFFFFF"/>
                </a:solidFill>
                <a:latin typeface="Calibri"/>
              </a:rPr>
              <a:t>Thank You</a:t>
            </a:r>
          </a:p>
        </p:txBody>
      </p:sp>
      <p:sp>
        <p:nvSpPr>
          <p:cNvPr id="5" name="Rectangle 4"/>
          <p:cNvSpPr/>
          <p:nvPr/>
        </p:nvSpPr>
        <p:spPr>
          <a:xfrm>
            <a:off x="4114800" y="3456432"/>
            <a:ext cx="3931920" cy="27432"/>
          </a:xfrm>
          <a:prstGeom prst="rect">
            <a:avLst/>
          </a:prstGeom>
          <a:solidFill>
            <a:srgbClr val="78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547872"/>
            <a:ext cx="10332720" cy="457200"/>
          </a:xfrm>
          <a:prstGeom prst="rect">
            <a:avLst/>
          </a:prstGeom>
          <a:noFill/>
        </p:spPr>
        <p:txBody>
          <a:bodyPr wrap="square">
            <a:spAutoFit/>
          </a:bodyPr>
          <a:lstStyle/>
          <a:p>
            <a:pPr algn="ctr"/>
            <a:r>
              <a:rPr sz="1600" b="0" i="0">
                <a:solidFill>
                  <a:srgbClr val="78788C"/>
                </a:solidFill>
                <a:latin typeface="Calibri"/>
              </a:rPr>
              <a:t>Chris  ·  Indel  ·  Nate  ·  Matt</a:t>
            </a:r>
          </a:p>
        </p:txBody>
      </p:sp>
      <p:sp>
        <p:nvSpPr>
          <p:cNvPr id="7" name="Rectangle 6"/>
          <p:cNvSpPr/>
          <p:nvPr/>
        </p:nvSpPr>
        <p:spPr>
          <a:xfrm>
            <a:off x="3474720" y="4297680"/>
            <a:ext cx="5212080" cy="54864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4315968"/>
            <a:ext cx="5212080" cy="502920"/>
          </a:xfrm>
          <a:prstGeom prst="rect">
            <a:avLst/>
          </a:prstGeom>
          <a:noFill/>
        </p:spPr>
        <p:txBody>
          <a:bodyPr wrap="square">
            <a:spAutoFit/>
          </a:bodyPr>
          <a:lstStyle/>
          <a:p>
            <a:pPr algn="ctr"/>
            <a:r>
              <a:rPr sz="1400" b="0" i="0">
                <a:solidFill>
                  <a:srgbClr val="4ECDC4"/>
                </a:solidFill>
                <a:latin typeface="Calibri"/>
              </a:rPr>
              <a:t>streamlit run app.py</a:t>
            </a:r>
          </a:p>
        </p:txBody>
      </p:sp>
      <p:sp>
        <p:nvSpPr>
          <p:cNvPr id="9" name="TextBox 8"/>
          <p:cNvSpPr txBox="1"/>
          <p:nvPr/>
        </p:nvSpPr>
        <p:spPr>
          <a:xfrm>
            <a:off x="914400" y="5074920"/>
            <a:ext cx="10332720" cy="457200"/>
          </a:xfrm>
          <a:prstGeom prst="rect">
            <a:avLst/>
          </a:prstGeom>
          <a:noFill/>
        </p:spPr>
        <p:txBody>
          <a:bodyPr wrap="square">
            <a:spAutoFit/>
          </a:bodyPr>
          <a:lstStyle/>
          <a:p>
            <a:pPr algn="ctr"/>
            <a:r>
              <a:rPr sz="2000" b="0" i="0">
                <a:solidFill>
                  <a:srgbClr val="C8C8C8"/>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